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7ee04181ce4e9a" /><Relationship Type="http://schemas.openxmlformats.org/officeDocument/2006/relationships/extended-properties" Target="/docProps/app.xml" Id="R4f33f3757f1f41d0" /><Relationship Type="http://schemas.openxmlformats.org/officeDocument/2006/relationships/officeDocument" Target="/ppt/presentation.xml" Id="Rdf89b9b0a28a4262" /></Relationships>
</file>

<file path=ppt/presentation.xml><?xml version="1.0" encoding="utf-8"?>
<p:presentation xmlns:p="http://schemas.openxmlformats.org/presentationml/2006/main">
  <p:sldMasterIdLst>
    <p:sldMasterId xmlns:r="http://schemas.openxmlformats.org/officeDocument/2006/relationships" id="2147483648" r:id="Rfdc84514b8324e97"/>
  </p:sldMasterIdLst>
  <p:notesMasterIdLst>
    <p:notesMasterId xmlns:r="http://schemas.openxmlformats.org/officeDocument/2006/relationships" r:id="R6c392a882ea44fea"/>
  </p:notesMasterIdLst>
  <p:sldIdLst>
    <p:sldId xmlns:r="http://schemas.openxmlformats.org/officeDocument/2006/relationships" id="256" r:id="R4ee95715731a4ca8"/>
    <p:sldId xmlns:r="http://schemas.openxmlformats.org/officeDocument/2006/relationships" id="257" r:id="R7aed1b234a9f49d4"/>
    <p:sldId xmlns:r="http://schemas.openxmlformats.org/officeDocument/2006/relationships" id="258" r:id="R76df981e2b6b494b"/>
    <p:sldId xmlns:r="http://schemas.openxmlformats.org/officeDocument/2006/relationships" id="259" r:id="Ra398c141fd1b4133"/>
    <p:sldId xmlns:r="http://schemas.openxmlformats.org/officeDocument/2006/relationships" id="260" r:id="R77ff26d627c5456b"/>
    <p:sldId xmlns:r="http://schemas.openxmlformats.org/officeDocument/2006/relationships" id="261" r:id="Rb688c7cc132a4922"/>
    <p:sldId xmlns:r="http://schemas.openxmlformats.org/officeDocument/2006/relationships" id="262" r:id="Re58d8240d068468b"/>
    <p:sldId xmlns:r="http://schemas.openxmlformats.org/officeDocument/2006/relationships" id="263" r:id="R422b054582c6498b"/>
    <p:sldId xmlns:r="http://schemas.openxmlformats.org/officeDocument/2006/relationships" id="264" r:id="Rb037fad5d5134840"/>
    <p:sldId xmlns:r="http://schemas.openxmlformats.org/officeDocument/2006/relationships" id="265" r:id="R407b7dc2b9c14012"/>
    <p:sldId xmlns:r="http://schemas.openxmlformats.org/officeDocument/2006/relationships" id="266" r:id="R5e9b053fdbd34079"/>
    <p:sldId xmlns:r="http://schemas.openxmlformats.org/officeDocument/2006/relationships" id="267" r:id="R9ffd84bb6e664ddd"/>
    <p:sldId xmlns:r="http://schemas.openxmlformats.org/officeDocument/2006/relationships" id="268" r:id="R729009a6b2334a08"/>
    <p:sldId xmlns:r="http://schemas.openxmlformats.org/officeDocument/2006/relationships" id="269" r:id="R4e422ccd74c54e4d"/>
    <p:sldId xmlns:r="http://schemas.openxmlformats.org/officeDocument/2006/relationships" id="270" r:id="R58bb469f40b74ba8"/>
    <p:sldId xmlns:r="http://schemas.openxmlformats.org/officeDocument/2006/relationships" id="271" r:id="R5a5ee68b59484977"/>
    <p:sldId xmlns:r="http://schemas.openxmlformats.org/officeDocument/2006/relationships" id="272" r:id="Rb1aff5701ebb476f"/>
    <p:sldId xmlns:r="http://schemas.openxmlformats.org/officeDocument/2006/relationships" id="273" r:id="R8de50cc6bb2c4b86"/>
    <p:sldId xmlns:r="http://schemas.openxmlformats.org/officeDocument/2006/relationships" id="274" r:id="R8f37e47ae2a14049"/>
    <p:sldId xmlns:r="http://schemas.openxmlformats.org/officeDocument/2006/relationships" id="275" r:id="Rc9241dba65974a51"/>
    <p:sldId xmlns:r="http://schemas.openxmlformats.org/officeDocument/2006/relationships" id="276" r:id="R98efe48b229b4bf7"/>
    <p:sldId xmlns:r="http://schemas.openxmlformats.org/officeDocument/2006/relationships" id="277" r:id="Rf81728bc7cdd424d"/>
    <p:sldId xmlns:r="http://schemas.openxmlformats.org/officeDocument/2006/relationships" id="278" r:id="Rfe08e93688054360"/>
    <p:sldId xmlns:r="http://schemas.openxmlformats.org/officeDocument/2006/relationships" id="279" r:id="R1c96db5b74d44030"/>
    <p:sldId xmlns:r="http://schemas.openxmlformats.org/officeDocument/2006/relationships" id="280" r:id="Rf7270826369e4c8b"/>
    <p:sldId xmlns:r="http://schemas.openxmlformats.org/officeDocument/2006/relationships" id="281" r:id="Rd210f719f51e46de"/>
    <p:sldId xmlns:r="http://schemas.openxmlformats.org/officeDocument/2006/relationships" id="282" r:id="R59f666e4ee36485f"/>
    <p:sldId xmlns:r="http://schemas.openxmlformats.org/officeDocument/2006/relationships" id="283" r:id="Reee86e3eb6e249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4f16c196f24cdc" /><Relationship Type="http://schemas.openxmlformats.org/officeDocument/2006/relationships/slideMaster" Target="/ppt/slideMasters/slideMaster1.xml" Id="Rfdc84514b8324e97" /><Relationship Type="http://schemas.openxmlformats.org/officeDocument/2006/relationships/notesMaster" Target="/ppt/notesMasters/notesMaster1.xml" Id="R6c392a882ea44fea" /><Relationship Type="http://schemas.openxmlformats.org/officeDocument/2006/relationships/presProps" Target="/ppt/presProps.xml" Id="Raed78ce0f13b42f0" /><Relationship Type="http://schemas.openxmlformats.org/officeDocument/2006/relationships/tableStyles" Target="/ppt/tableStyles.xml" Id="Rf9e522b19fd3456a" /><Relationship Type="http://schemas.openxmlformats.org/officeDocument/2006/relationships/slide" Target="/ppt/slides/slide1.xml" Id="R4ee95715731a4ca8" /><Relationship Type="http://schemas.openxmlformats.org/officeDocument/2006/relationships/slide" Target="/ppt/slides/slide2.xml" Id="R7aed1b234a9f49d4" /><Relationship Type="http://schemas.openxmlformats.org/officeDocument/2006/relationships/slide" Target="/ppt/slides/slide3.xml" Id="R76df981e2b6b494b" /><Relationship Type="http://schemas.openxmlformats.org/officeDocument/2006/relationships/slide" Target="/ppt/slides/slide4.xml" Id="Ra398c141fd1b4133" /><Relationship Type="http://schemas.openxmlformats.org/officeDocument/2006/relationships/slide" Target="/ppt/slides/slide5.xml" Id="R77ff26d627c5456b" /><Relationship Type="http://schemas.openxmlformats.org/officeDocument/2006/relationships/slide" Target="/ppt/slides/slide6.xml" Id="Rb688c7cc132a4922" /><Relationship Type="http://schemas.openxmlformats.org/officeDocument/2006/relationships/slide" Target="/ppt/slides/slide7.xml" Id="Re58d8240d068468b" /><Relationship Type="http://schemas.openxmlformats.org/officeDocument/2006/relationships/slide" Target="/ppt/slides/slide8.xml" Id="R422b054582c6498b" /><Relationship Type="http://schemas.openxmlformats.org/officeDocument/2006/relationships/slide" Target="/ppt/slides/slide9.xml" Id="Rb037fad5d5134840" /><Relationship Type="http://schemas.openxmlformats.org/officeDocument/2006/relationships/slide" Target="/ppt/slides/slide10.xml" Id="R407b7dc2b9c14012" /><Relationship Type="http://schemas.openxmlformats.org/officeDocument/2006/relationships/slide" Target="/ppt/slides/slide11.xml" Id="R5e9b053fdbd34079" /><Relationship Type="http://schemas.openxmlformats.org/officeDocument/2006/relationships/slide" Target="/ppt/slides/slide12.xml" Id="R9ffd84bb6e664ddd" /><Relationship Type="http://schemas.openxmlformats.org/officeDocument/2006/relationships/slide" Target="/ppt/slides/slide13.xml" Id="R729009a6b2334a08" /><Relationship Type="http://schemas.openxmlformats.org/officeDocument/2006/relationships/slide" Target="/ppt/slides/slide14.xml" Id="R4e422ccd74c54e4d" /><Relationship Type="http://schemas.openxmlformats.org/officeDocument/2006/relationships/slide" Target="/ppt/slides/slide15.xml" Id="R58bb469f40b74ba8" /><Relationship Type="http://schemas.openxmlformats.org/officeDocument/2006/relationships/slide" Target="/ppt/slides/slide16.xml" Id="R5a5ee68b59484977" /><Relationship Type="http://schemas.openxmlformats.org/officeDocument/2006/relationships/slide" Target="/ppt/slides/slide17.xml" Id="Rb1aff5701ebb476f" /><Relationship Type="http://schemas.openxmlformats.org/officeDocument/2006/relationships/slide" Target="/ppt/slides/slide18.xml" Id="R8de50cc6bb2c4b86" /><Relationship Type="http://schemas.openxmlformats.org/officeDocument/2006/relationships/slide" Target="/ppt/slides/slide19.xml" Id="R8f37e47ae2a14049" /><Relationship Type="http://schemas.openxmlformats.org/officeDocument/2006/relationships/slide" Target="/ppt/slides/slide20.xml" Id="Rc9241dba65974a51" /><Relationship Type="http://schemas.openxmlformats.org/officeDocument/2006/relationships/slide" Target="/ppt/slides/slide21.xml" Id="R98efe48b229b4bf7" /><Relationship Type="http://schemas.openxmlformats.org/officeDocument/2006/relationships/slide" Target="/ppt/slides/slide22.xml" Id="Rf81728bc7cdd424d" /><Relationship Type="http://schemas.openxmlformats.org/officeDocument/2006/relationships/slide" Target="/ppt/slides/slide23.xml" Id="Rfe08e93688054360" /><Relationship Type="http://schemas.openxmlformats.org/officeDocument/2006/relationships/slide" Target="/ppt/slides/slide24.xml" Id="R1c96db5b74d44030" /><Relationship Type="http://schemas.openxmlformats.org/officeDocument/2006/relationships/slide" Target="/ppt/slides/slide25.xml" Id="Rf7270826369e4c8b" /><Relationship Type="http://schemas.openxmlformats.org/officeDocument/2006/relationships/slide" Target="/ppt/slides/slide26.xml" Id="Rd210f719f51e46de" /><Relationship Type="http://schemas.openxmlformats.org/officeDocument/2006/relationships/slide" Target="/ppt/slides/slide27.xml" Id="R59f666e4ee36485f" /><Relationship Type="http://schemas.openxmlformats.org/officeDocument/2006/relationships/slide" Target="/ppt/slides/slide28.xml" Id="Reee86e3eb6e249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68743f14f840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2851aa30284443" /><Relationship Type="http://schemas.openxmlformats.org/officeDocument/2006/relationships/notesMaster" Target="/ppt/notesMasters/notesMaster1.xml" Id="R333cdc1476004d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0473c0e61e437d" /><Relationship Type="http://schemas.openxmlformats.org/officeDocument/2006/relationships/notesMaster" Target="/ppt/notesMasters/notesMaster1.xml" Id="R6c11f173468643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f09c6fb0494f46" /><Relationship Type="http://schemas.openxmlformats.org/officeDocument/2006/relationships/notesMaster" Target="/ppt/notesMasters/notesMaster1.xml" Id="R5dfc4644d59044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afd50027f24c6c" /><Relationship Type="http://schemas.openxmlformats.org/officeDocument/2006/relationships/notesMaster" Target="/ppt/notesMasters/notesMaster1.xml" Id="R0be24e0326f84e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2d204167e74654" /><Relationship Type="http://schemas.openxmlformats.org/officeDocument/2006/relationships/notesMaster" Target="/ppt/notesMasters/notesMaster1.xml" Id="Rfcc9d9da43de46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caf009fe6b4fc4" /><Relationship Type="http://schemas.openxmlformats.org/officeDocument/2006/relationships/notesMaster" Target="/ppt/notesMasters/notesMaster1.xml" Id="R321af257010143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d701e3cbf74835" /><Relationship Type="http://schemas.openxmlformats.org/officeDocument/2006/relationships/notesMaster" Target="/ppt/notesMasters/notesMaster1.xml" Id="R6af0294ce4ce4c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4980789dbd4899" /><Relationship Type="http://schemas.openxmlformats.org/officeDocument/2006/relationships/notesMaster" Target="/ppt/notesMasters/notesMaster1.xml" Id="R5bf1374943dc40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eac2b74cf4465d" /><Relationship Type="http://schemas.openxmlformats.org/officeDocument/2006/relationships/notesMaster" Target="/ppt/notesMasters/notesMaster1.xml" Id="R4c24c94c380241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d3d69a421b40e1" /><Relationship Type="http://schemas.openxmlformats.org/officeDocument/2006/relationships/notesMaster" Target="/ppt/notesMasters/notesMaster1.xml" Id="R650b2a095e7c49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ea70805eda4333" /><Relationship Type="http://schemas.openxmlformats.org/officeDocument/2006/relationships/notesMaster" Target="/ppt/notesMasters/notesMaster1.xml" Id="Rd89ea2dac69f40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b0b18e3eba44e7" /><Relationship Type="http://schemas.openxmlformats.org/officeDocument/2006/relationships/notesMaster" Target="/ppt/notesMasters/notesMaster1.xml" Id="R000083bdfb0c4b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9607a22ac54edd" /><Relationship Type="http://schemas.openxmlformats.org/officeDocument/2006/relationships/notesMaster" Target="/ppt/notesMasters/notesMaster1.xml" Id="Reb2be948280e42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40f37a8e7947bf" /><Relationship Type="http://schemas.openxmlformats.org/officeDocument/2006/relationships/notesMaster" Target="/ppt/notesMasters/notesMaster1.xml" Id="Rf5316987972949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4e8e60f1a94da7" /><Relationship Type="http://schemas.openxmlformats.org/officeDocument/2006/relationships/notesMaster" Target="/ppt/notesMasters/notesMaster1.xml" Id="R688a401f117a48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f0c9e4b9054a11" /><Relationship Type="http://schemas.openxmlformats.org/officeDocument/2006/relationships/notesMaster" Target="/ppt/notesMasters/notesMaster1.xml" Id="Rd7c12971863541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87a0c0a1f34028" /><Relationship Type="http://schemas.openxmlformats.org/officeDocument/2006/relationships/notesMaster" Target="/ppt/notesMasters/notesMaster1.xml" Id="R0f50f814992641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767c245d254a1e" /><Relationship Type="http://schemas.openxmlformats.org/officeDocument/2006/relationships/notesMaster" Target="/ppt/notesMasters/notesMaster1.xml" Id="R3c0d53738d974f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e11852933b4d1a" /><Relationship Type="http://schemas.openxmlformats.org/officeDocument/2006/relationships/notesMaster" Target="/ppt/notesMasters/notesMaster1.xml" Id="R5a63037bb81d44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b42737a35774588" /><Relationship Type="http://schemas.openxmlformats.org/officeDocument/2006/relationships/notesMaster" Target="/ppt/notesMasters/notesMaster1.xml" Id="R4008471468a44c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f96afe74824beb" /><Relationship Type="http://schemas.openxmlformats.org/officeDocument/2006/relationships/notesMaster" Target="/ppt/notesMasters/notesMaster1.xml" Id="Rc87179ce36f145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63bfb95a2fb4c75" /><Relationship Type="http://schemas.openxmlformats.org/officeDocument/2006/relationships/notesMaster" Target="/ppt/notesMasters/notesMaster1.xml" Id="Rf677efbf73dd47e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aa4286fc534b14" /><Relationship Type="http://schemas.openxmlformats.org/officeDocument/2006/relationships/notesMaster" Target="/ppt/notesMasters/notesMaster1.xml" Id="R901df1a1df7a48f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c08657c9ea449e" /><Relationship Type="http://schemas.openxmlformats.org/officeDocument/2006/relationships/notesMaster" Target="/ppt/notesMasters/notesMaster1.xml" Id="Rf9fe8898367d47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e87869b45b94a81" /><Relationship Type="http://schemas.openxmlformats.org/officeDocument/2006/relationships/notesMaster" Target="/ppt/notesMasters/notesMaster1.xml" Id="R545953d8c6ef49d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cd2fad9a40149f3" /><Relationship Type="http://schemas.openxmlformats.org/officeDocument/2006/relationships/notesMaster" Target="/ppt/notesMasters/notesMaster1.xml" Id="R9bfa5d4c1fce40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ef8b01e98ab4994" /><Relationship Type="http://schemas.openxmlformats.org/officeDocument/2006/relationships/notesMaster" Target="/ppt/notesMasters/notesMaster1.xml" Id="R4dd71bb359e3416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23e04f5ee0a43e2" /><Relationship Type="http://schemas.openxmlformats.org/officeDocument/2006/relationships/notesMaster" Target="/ppt/notesMasters/notesMaster1.xml" Id="Ra17e557ca4b94c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a:t>
            </a:r>
          </a:p>
          <a:p xmlns:a="http://schemas.openxmlformats.org/drawingml/2006/main">
            <a:r>
              <a:t/>
            </a:r>
          </a:p>
          <a:p xmlns:a="http://schemas.openxmlformats.org/drawingml/2006/main">
            <a:r>
              <a:t>GUION</a:t>
            </a:r>
          </a:p>
          <a:p xmlns:a="http://schemas.openxmlformats.org/drawingml/2006/main">
            <a:r>
              <a:t>Bienvenidos. Hoy vamos a convertir la información del Paquete Económico en preguntas concretas para su empresa. Al finalizar podrán identificar una exposición, estimar su posible efecto y elegir una acción. Trabajaremos sobre las propuestas descritas en los CGPE 2027 aportados para esta sesión. Una propuesta puede cambiar durante el proceso legislativo. Los casos son didácticos y no determinan el impuesto de una empresa real.</a:t>
            </a:r>
          </a:p>
          <a:p xmlns:a="http://schemas.openxmlformats.org/drawingml/2006/main">
            <a:r>
              <a:t/>
            </a:r>
          </a:p>
          <a:p xmlns:a="http://schemas.openxmlformats.org/drawingml/2006/main">
            <a:r>
              <a:t>FUENTES Y ALCANCE</a:t>
            </a:r>
          </a:p>
          <a:p xmlns:a="http://schemas.openxmlformats.org/drawingml/2006/main">
            <a:r>
              <a:t>CGPE_2027.pdf aportado por el usuario; corte editorial: 28 de septiembre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 minutos</a:t>
            </a:r>
          </a:p>
          <a:p xmlns:a="http://schemas.openxmlformats.org/drawingml/2006/main">
            <a:r>
              <a:t/>
            </a:r>
          </a:p>
          <a:p xmlns:a="http://schemas.openxmlformats.org/drawingml/2006/main">
            <a:r>
              <a:t>GUION</a:t>
            </a:r>
          </a:p>
          <a:p xmlns:a="http://schemas.openxmlformats.org/drawingml/2006/main">
            <a:r>
              <a:t>Pida que cada asistente piense en una decisión real que tenga pendiente. Reciba dos respuestas sin pedir montos confidenciales. Puede ser comprar maquinaria, contratar financiamiento o recuperar una pérdida fiscal. Conecte esas respuestas con el objetivo del curso: conocer una noticia fiscal tiene valor cuando ayuda a preparar una decisión. Evite empezar con una lista de artículos o con una promesa de ahorro.</a:t>
            </a:r>
          </a:p>
          <a:p xmlns:a="http://schemas.openxmlformats.org/drawingml/2006/main">
            <a:r>
              <a:t/>
            </a:r>
          </a:p>
          <a:p xmlns:a="http://schemas.openxmlformats.org/drawingml/2006/main">
            <a:r>
              <a:t>FUENTES Y ALCANCE</a:t>
            </a:r>
          </a:p>
          <a:p xmlns:a="http://schemas.openxmlformats.org/drawingml/2006/main">
            <a:r>
              <a:t>Diseño didáctico propio.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a:t>
            </a:r>
          </a:p>
          <a:p xmlns:a="http://schemas.openxmlformats.org/drawingml/2006/main">
            <a:r>
              <a:t/>
            </a:r>
          </a:p>
          <a:p xmlns:a="http://schemas.openxmlformats.org/drawingml/2006/main">
            <a:r>
              <a:t>GUION</a:t>
            </a:r>
          </a:p>
          <a:p xmlns:a="http://schemas.openxmlformats.org/drawingml/2006/main">
            <a:r>
              <a:t>Explique la dinámica: habrá conceptos breves, ejemplos y un cuaderno de trabajo. No es necesario ser contador. Cuando aparezca una sigla, la traduciremos. La sesión dura 90 minutos e incluye preguntas. Presente la consulta posterior como una opción para quien necesite aplicar el análisis a su empresa, sin interrumpir el contenido con una venta constante.</a:t>
            </a:r>
          </a:p>
          <a:p xmlns:a="http://schemas.openxmlformats.org/drawingml/2006/main">
            <a:r>
              <a:t/>
            </a:r>
          </a:p>
          <a:p xmlns:a="http://schemas.openxmlformats.org/drawingml/2006/main">
            <a:r>
              <a:t>FUENTES Y ALCANCE</a:t>
            </a:r>
          </a:p>
          <a:p xmlns:a="http://schemas.openxmlformats.org/drawingml/2006/main">
            <a:r>
              <a:t>Diseño didáctico propio.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Compare el paquete con el presupuesto de una empresa, aclarando que el Estado tiene funciones y reglas diferentes. Los CGPE explican el escenario, pero no crean por sí solos una nueva obligación. La iniciativa de ingresos y el proyecto de gasto tampoco equivalen a textos ya aprobados. Las reformas fiscales deben revisarse en su articulado y transitorios. Pregunte: ¿en cuál documento buscarían una tasa aplicable a su operación?</a:t>
            </a:r>
          </a:p>
          <a:p xmlns:a="http://schemas.openxmlformats.org/drawingml/2006/main">
            <a:r>
              <a:t/>
            </a:r>
          </a:p>
          <a:p xmlns:a="http://schemas.openxmlformats.org/drawingml/2006/main">
            <a:r>
              <a:t>FUENTES Y ALCANCE</a:t>
            </a:r>
          </a:p>
          <a:p xmlns:a="http://schemas.openxmlformats.org/drawingml/2006/main">
            <a:r>
              <a:t>LFPRH, artículo 42, fracción III. https://www.diputados.gob.mx/LeyesBiblio/pdf/LFPRH.pdf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Aclare que las fechas indicadas son límites legales del calendario ordinario: Ley de Ingresos en Diputados y Senado, y Presupuesto en Diputados. No son una afirmación de que una reforma particular ya fue aprobada. En esta versión, las medidas 2027 se presentan como propuestas de los CGPE. Antes de cada impartición, el área fiscal debe actualizar el estado legislativo, la publicación y los transitorios.</a:t>
            </a:r>
          </a:p>
          <a:p xmlns:a="http://schemas.openxmlformats.org/drawingml/2006/main">
            <a:r>
              <a:t/>
            </a:r>
          </a:p>
          <a:p xmlns:a="http://schemas.openxmlformats.org/drawingml/2006/main">
            <a:r>
              <a:t>FUENTES Y ALCANCE</a:t>
            </a:r>
          </a:p>
          <a:p xmlns:a="http://schemas.openxmlformats.org/drawingml/2006/main">
            <a:r>
              <a:t>LFPRH, artículo 42, fracciones IV a VI. https://www.diputados.gob.mx/LeyesBiblio/pdf/LFPRH.pdf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PIB es el tamaño de la actividad económica. Inflación es el cambio general de precios. Cetes es una referencia financiera, no la tasa que necesariamente ofrecerá un banco a la empresa. Distinga promedio anual de cierre del año. No use 18 pesos como pronóstico asegurado ni la inflación general como aumento automático de todos los costos. Cada empresa debe construir su propio escenario de ventas, insumos y financiamiento.</a:t>
            </a:r>
          </a:p>
          <a:p xmlns:a="http://schemas.openxmlformats.org/drawingml/2006/main">
            <a:r>
              <a:t/>
            </a:r>
          </a:p>
          <a:p xmlns:a="http://schemas.openxmlformats.org/drawingml/2006/main">
            <a:r>
              <a:t>FUENTES Y ALCANCE</a:t>
            </a:r>
          </a:p>
          <a:p xmlns:a="http://schemas.openxmlformats.org/drawingml/2006/main">
            <a:r>
              <a:t>CGPE_2027.pdf aportado por el usuario, p. 66, anexo II.5. Proyecciones, no resultados observados.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Multiplique cien mil dólares por cada tipo de cambio. El segundo escenario necesita ciento cincuenta mil pesos adicionales. Ambos tipos de cambio son supuestos del ejercicio, no dos previsiones oficiales. Pida un ejemplo de costo dolarizado: equipo, licencia o insumo. La acción útil es calcular sensibilidad antes de comprometer la inversión, revisar fechas de pago y valorar coberturas con el asesor correspondiente.</a:t>
            </a:r>
          </a:p>
          <a:p xmlns:a="http://schemas.openxmlformats.org/drawingml/2006/main">
            <a:r>
              <a:t/>
            </a:r>
          </a:p>
          <a:p xmlns:a="http://schemas.openxmlformats.org/drawingml/2006/main">
            <a:r>
              <a:t>FUENTES Y ALCANCE</a:t>
            </a:r>
          </a:p>
          <a:p xmlns:a="http://schemas.openxmlformats.org/drawingml/2006/main">
            <a:r>
              <a:t>Cálculo didáctico propio: 100,000 × 18 = 1,800,000; 100,000 × 19.5 = 1,950,000.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a:t>
            </a:r>
          </a:p>
          <a:p xmlns:a="http://schemas.openxmlformats.org/drawingml/2006/main">
            <a:r>
              <a:t/>
            </a:r>
          </a:p>
          <a:p xmlns:a="http://schemas.openxmlformats.org/drawingml/2006/main">
            <a:r>
              <a:t>GUION</a:t>
            </a:r>
          </a:p>
          <a:p xmlns:a="http://schemas.openxmlformats.org/drawingml/2006/main">
            <a:r>
              <a:t>Presente 15.9% como proyección agregada del documento, no como tasa que pagará cada empresa. La base es la cantidad sobre la que se calcula el impuesto. Si se limita una deducción o se aplaza el uso de una pérdida, la tasa puede permanecer y el impuesto del ejercicio cambiar. No equipare automáticamente una pérdida fiscal con evasión: hay pérdidas legítimas derivadas de inversión, ciclos de negocio y otros factores.</a:t>
            </a:r>
          </a:p>
          <a:p xmlns:a="http://schemas.openxmlformats.org/drawingml/2006/main">
            <a:r>
              <a:t/>
            </a:r>
          </a:p>
          <a:p xmlns:a="http://schemas.openxmlformats.org/drawingml/2006/main">
            <a:r>
              <a:t>FUENTES Y ALCANCE</a:t>
            </a:r>
          </a:p>
          <a:p xmlns:a="http://schemas.openxmlformats.org/drawingml/2006/main">
            <a:r>
              <a:t>CGPE_2027.pdf aportado por el usuario, pp. 27-30, apartado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No todas las propuestas afectan a todos. Pida que marquen en su cuaderno las filas relacionadas con su operación. El interés comercial surge de una necesidad identificada, no de hacer sentir a todos en incumplimiento. Explique que revisaremos también propuestas sectoriales, pero que esta sesión prioriza decisiones frecuentes de empresas y sus responsables financieros.</a:t>
            </a:r>
          </a:p>
          <a:p xmlns:a="http://schemas.openxmlformats.org/drawingml/2006/main">
            <a:r>
              <a:t/>
            </a:r>
          </a:p>
          <a:p xmlns:a="http://schemas.openxmlformats.org/drawingml/2006/main">
            <a:r>
              <a:t>FUENTES Y ALCANCE</a:t>
            </a:r>
          </a:p>
          <a:p xmlns:a="http://schemas.openxmlformats.org/drawingml/2006/main">
            <a:r>
              <a:t>CGPE_2027.pdf aportado por el usuario, pp. 29-30. Selección editorial para público empresarial.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La síntesis de los CGPE contiene una redacción que no basta para construir una calculadora fiable del mecanismo. Por eso no afirmamos que toda empresa deba limitar sus deducciones al mismo porcentaje ni que todas pagarán un impuesto mínimo uniforme. Solicite al área fiscal la iniciativa y después el texto aprobado. Mientras tanto, una conciliación contable fiscal permite conocer cuánto deduce la empresa, por qué y con qué soporte.</a:t>
            </a:r>
          </a:p>
          <a:p xmlns:a="http://schemas.openxmlformats.org/drawingml/2006/main">
            <a:r>
              <a:t/>
            </a:r>
          </a:p>
          <a:p xmlns:a="http://schemas.openxmlformats.org/drawingml/2006/main">
            <a:r>
              <a:t>FUENTES Y ALCANCE</a:t>
            </a:r>
          </a:p>
          <a:p xmlns:a="http://schemas.openxmlformats.org/drawingml/2006/main">
            <a:r>
              <a:t>CGPE_2027.pdf aportado por el usuario, p. 29, primer punto de medidas de política tributaria. No se verificó el articulado de la iniciativa en esta elaboración.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Una pérdida fiscal no es idéntica a una pérdida contable. La ley consultada contempla diez ejercicios siguientes, actualización y reglas que pueden hacer perder el derecho si no se aplica cuando procede. Los CGPE proponen un plazo mayor y un límite anual. No afirme que las pérdidas antiguas se extienden automáticamente a veinte años: el tratamiento de saldos previos requiere revisar transitorios. El siguiente caso aísla solamente el posible límite anual.</a:t>
            </a:r>
          </a:p>
          <a:p xmlns:a="http://schemas.openxmlformats.org/drawingml/2006/main">
            <a:r>
              <a:t/>
            </a:r>
          </a:p>
          <a:p xmlns:a="http://schemas.openxmlformats.org/drawingml/2006/main">
            <a:r>
              <a:t>FUENTES Y ALCANCE</a:t>
            </a:r>
          </a:p>
          <a:p xmlns:a="http://schemas.openxmlformats.org/drawingml/2006/main">
            <a:r>
              <a:t>CGPE_2027.pdf aportado por el usuario, p. 29; LISR, artículo 57. https://www.diputados.gob.mx/LeyesBiblio/pdf/LISR.pdf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 minutos</a:t>
            </a:r>
          </a:p>
          <a:p xmlns:a="http://schemas.openxmlformats.org/drawingml/2006/main">
            <a:r>
              <a:t/>
            </a:r>
          </a:p>
          <a:p xmlns:a="http://schemas.openxmlformats.org/drawingml/2006/main">
            <a:r>
              <a:t>GUION</a:t>
            </a:r>
          </a:p>
          <a:p xmlns:a="http://schemas.openxmlformats.org/drawingml/2006/main">
            <a:r>
              <a:t>Dé dos minutos para resolver. Suponga que la utilidad fiscal ya está correctamente determinada y que la pérdida es válida, utilizable y está actualizada al monto dado. No mezcle este caso con el mecanismo de deducciones. El escenario de propuesta es condicional: se supone que el límite de 50% sería aplicable a esta empresa. Pregunte después cuánto quedaría de pérdida y por qué ese saldo no equivale a efectivo disponible.</a:t>
            </a:r>
          </a:p>
          <a:p xmlns:a="http://schemas.openxmlformats.org/drawingml/2006/main">
            <a:r>
              <a:t/>
            </a:r>
          </a:p>
          <a:p xmlns:a="http://schemas.openxmlformats.org/drawingml/2006/main">
            <a:r>
              <a:t>FUENTES Y ALCANCE</a:t>
            </a:r>
          </a:p>
          <a:p xmlns:a="http://schemas.openxmlformats.org/drawingml/2006/main">
            <a:r>
              <a:t>Caso propio. Tasa: LISR, artículo 9. Pérdidas: artículo 57 y CGPE_2027.pdf aportado por el usuario, p. 29. https://www.diputados.gob.mx/LeyesBiblio/pdf/LISR.pdf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Resultado: con el supuesto del límite, un millón por 50% permite aplicar quinientos mil. La base restante por 30% da ciento cincuenta mil. El saldo efectivamente pagadero depende de anticipos, acreditamientos y otras partidas. Mantener quinientos mil de pérdida no garantiza recuperarlos íntegramente: importa generar utilidades, conservar el derecho y cumplir el plazo. La decisión empresarial es planear la caja y verificar la evidencia de las pérdidas.</a:t>
            </a:r>
          </a:p>
          <a:p xmlns:a="http://schemas.openxmlformats.org/drawingml/2006/main">
            <a:r>
              <a:t/>
            </a:r>
          </a:p>
          <a:p xmlns:a="http://schemas.openxmlformats.org/drawingml/2006/main">
            <a:r>
              <a:t>FUENTES Y ALCANCE</a:t>
            </a:r>
          </a:p>
          <a:p xmlns:a="http://schemas.openxmlformats.org/drawingml/2006/main">
            <a:r>
              <a:t>Cálculo didáctico propio. LISR, artículos 9 y 57; CGPE_2027.pdf aportado por el usuario, p. 29. https://www.diputados.gob.mx/LeyesBiblio/pdf/LISR.pdf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La utilidad fiscal ajustada es una base específica de la regla, no el saldo en bancos ni simplemente la utilidad contable. El documento describe también la conservación del plazo de diez ejercicios para intereses no deducidos. No sugiera anticipar o simular pagos. El análisis requiere contratos, finalidad del financiamiento, intereses netos, excepciones y relaciones entre partes. Para servicios extranjeros, contraste fecha de pago con evidencia de entrega y uso.</a:t>
            </a:r>
          </a:p>
          <a:p xmlns:a="http://schemas.openxmlformats.org/drawingml/2006/main">
            <a:r>
              <a:t/>
            </a:r>
          </a:p>
          <a:p xmlns:a="http://schemas.openxmlformats.org/drawingml/2006/main">
            <a:r>
              <a:t>FUENTES Y ALCANCE</a:t>
            </a:r>
          </a:p>
          <a:p xmlns:a="http://schemas.openxmlformats.org/drawingml/2006/main">
            <a:r>
              <a:t>CGPE_2027.pdf aportado por el usuario, p. 29. Los porcentajes y el plazo son descripción de la propuesta, no instrucción operativa.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RESICO significa Régimen Simplificado de Confianza. Estar por debajo de un umbral no basta para ingresar o permanecer: hay requisitos y exclusiones que deben revisarse. Aclare que ambas columnas provienen de la comparación descrita por los CGPE y que la columna propuesta no está presentada como norma vigente. La pregunta para el asistente es si vale la pena comparar su régimen con una alternativa elegible, no si debe cambiar hoy.</a:t>
            </a:r>
          </a:p>
          <a:p xmlns:a="http://schemas.openxmlformats.org/drawingml/2006/main">
            <a:r>
              <a:t/>
            </a:r>
          </a:p>
          <a:p xmlns:a="http://schemas.openxmlformats.org/drawingml/2006/main">
            <a:r>
              <a:t>FUENTES Y ALCANCE</a:t>
            </a:r>
          </a:p>
          <a:p xmlns:a="http://schemas.openxmlformats.org/drawingml/2006/main">
            <a:r>
              <a:t>CGPE_2027.pdf aportado por el usuario, p. 30, simplificación para micro y pequeñas empresas.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Acreditar significa restar al IVA a cargo el IVA que cumple requisitos. La propuesta sintetizada en CGPE es una opción para determinar el pago mensual y requiere revisar su desarrollo normativo. No diga que la tasa general del IVA bajará a 7% ni que los asistentes ya pueden modificar sus facturas. El caso siguiente compara pagos bajo supuestos muy simples para mostrar por qué el volumen de compras puede cambiar el resultado.</a:t>
            </a:r>
          </a:p>
          <a:p xmlns:a="http://schemas.openxmlformats.org/drawingml/2006/main">
            <a:r>
              <a:t/>
            </a:r>
          </a:p>
          <a:p xmlns:a="http://schemas.openxmlformats.org/drawingml/2006/main">
            <a:r>
              <a:t>FUENTES Y ALCANCE</a:t>
            </a:r>
          </a:p>
          <a:p xmlns:a="http://schemas.openxmlformats.org/drawingml/2006/main">
            <a:r>
              <a:t>CGPE_2027.pdf aportado por el usuario, p. 30. LIVA, artículos 1 y 5, para la referencia general. https://www.diputados.gob.mx/LeyesBiblio/pdf/LIVA.pdf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 minutos</a:t>
            </a:r>
          </a:p>
          <a:p xmlns:a="http://schemas.openxmlformats.org/drawingml/2006/main">
            <a:r>
              <a:t/>
            </a:r>
          </a:p>
          <a:p xmlns:a="http://schemas.openxmlformats.org/drawingml/2006/main">
            <a:r>
              <a:t>GUION</a:t>
            </a:r>
          </a:p>
          <a:p xmlns:a="http://schemas.openxmlformats.org/drawingml/2006/main">
            <a:r>
              <a:t>Pida que calculen dos resultados por negocio: IVA a cargo menos acreditable y 7% de ventas cobradas sin IVA. Todos los importes corresponden al mismo mes. El IVA acreditable ya cumple los requisitos del supuesto. Este ejercicio no resuelve facturación, efectos en clientes ni reglas de permanencia de una opción futura. Dé dos minutos y pida que expliquen por qué la misma opción no produce el mismo beneficio.</a:t>
            </a:r>
          </a:p>
          <a:p xmlns:a="http://schemas.openxmlformats.org/drawingml/2006/main">
            <a:r>
              <a:t/>
            </a:r>
          </a:p>
          <a:p xmlns:a="http://schemas.openxmlformats.org/drawingml/2006/main">
            <a:r>
              <a:t>FUENTES Y ALCANCE</a:t>
            </a:r>
          </a:p>
          <a:p xmlns:a="http://schemas.openxmlformats.org/drawingml/2006/main">
            <a:r>
              <a:t>Caso propio. LIVA, artículos 1 y 5. Opción hipotética según CGPE_2027.pdf aportado por el usuario, p. 30. https://www.diputados.gob.mx/LeyesBiblio/pdf/LIVA.pdf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A: dieciséis mil menos cuatro mil son doce mil. B: dieciséis mil menos doce mil son cuatro mil. La opción supuesta es siete mil en ambos. Si las compras o inversiones cambian, puede cambiar la comparación. Una decisión real requiere simular varios meses y revisar requisitos, operaciones a otras tasas, retenciones, saldos y reglas finales. Vincule el caso con el valor de un diagnóstico que utilice la información de la empresa.</a:t>
            </a:r>
          </a:p>
          <a:p xmlns:a="http://schemas.openxmlformats.org/drawingml/2006/main">
            <a:r>
              <a:t/>
            </a:r>
          </a:p>
          <a:p xmlns:a="http://schemas.openxmlformats.org/drawingml/2006/main">
            <a:r>
              <a:t>FUENTES Y ALCANCE</a:t>
            </a:r>
          </a:p>
          <a:p xmlns:a="http://schemas.openxmlformats.org/drawingml/2006/main">
            <a:r>
              <a:t>Cálculo didáctico propio. CGPE_2027.pdf aportado por el usuario, p. 30; https://www.diputados.gob.mx/LeyesBiblio/pdf/LIVA.pdf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CUFIN es la cuenta de utilidad fiscal neta y CUCA la cuenta de capital de aportación. ROGS es el régimen opcional para grupos de sociedades. No profundice si nadie tiene este perfil: invite a marcarlo para una revisión posterior. Los CGPE describen tasas y requisitos concretos para estímulos, pero aquí no se promete acceso automático. Los impuestos estatales, como el ISN, requieren una revisión separada de la legislación local.</a:t>
            </a:r>
          </a:p>
          <a:p xmlns:a="http://schemas.openxmlformats.org/drawingml/2006/main">
            <a:r>
              <a:t/>
            </a:r>
          </a:p>
          <a:p xmlns:a="http://schemas.openxmlformats.org/drawingml/2006/main">
            <a:r>
              <a:t>FUENTES Y ALCANCE</a:t>
            </a:r>
          </a:p>
          <a:p xmlns:a="http://schemas.openxmlformats.org/drawingml/2006/main">
            <a:r>
              <a:t>CGPE_2027.pdf aportado por el usuario, pp. 29-31. No se trasladan los datos estatales del Word aportado al paquete federal.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Explique que esta es una lista de preparación, no una afirmación de nuevas obligaciones 2027. Un CFDI es una pieza del soporte de una operación. El análisis requiere consistencia entre lo contratado, lo recibido, lo pagado y lo registrado. No solicite e.firma, contraseñas ni documentación fiscal en el chat del evento. Para una revisión profesional se acuerdan alcance, canal y documentación con la empresa.</a:t>
            </a:r>
          </a:p>
          <a:p xmlns:a="http://schemas.openxmlformats.org/drawingml/2006/main">
            <a:r>
              <a:t/>
            </a:r>
          </a:p>
          <a:p xmlns:a="http://schemas.openxmlformats.org/drawingml/2006/main">
            <a:r>
              <a:t>FUENTES Y ALCANCE</a:t>
            </a:r>
          </a:p>
          <a:p xmlns:a="http://schemas.openxmlformats.org/drawingml/2006/main">
            <a:r>
              <a:t>Lista de preparación propuesta por el curso. Servicios de soporte documental y contabilidad: https://www.strategaconsultores.com/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5 minutos</a:t>
            </a:r>
          </a:p>
          <a:p xmlns:a="http://schemas.openxmlformats.org/drawingml/2006/main">
            <a:r>
              <a:t/>
            </a:r>
          </a:p>
          <a:p xmlns:a="http://schemas.openxmlformats.org/drawingml/2006/main">
            <a:r>
              <a:t>GUION</a:t>
            </a:r>
          </a:p>
          <a:p xmlns:a="http://schemas.openxmlformats.org/drawingml/2006/main">
            <a:r>
              <a:t>Dé dos minutos para completar la hoja. Las respuestas no son un dictamen ni una clasificación de incumplimiento. No acumule puntos para afirmar riesgo legal. Pida que seleccionen un solo tema por impacto o proximidad de una decisión. Quien ya tenga todos los controles puede usar el curso para confirmar supuestos con su equipo. Nadie tiene que compartir datos fiscales para participar.</a:t>
            </a:r>
          </a:p>
          <a:p xmlns:a="http://schemas.openxmlformats.org/drawingml/2006/main">
            <a:r>
              <a:t/>
            </a:r>
          </a:p>
          <a:p xmlns:a="http://schemas.openxmlformats.org/drawingml/2006/main">
            <a:r>
              <a:t>FUENTES Y ALCANCE</a:t>
            </a:r>
          </a:p>
          <a:p xmlns:a="http://schemas.openxmlformats.org/drawingml/2006/main">
            <a:r>
              <a:t>Autodiagnóstico didáctico propio, sin validación como instrumento de riesgo fiscal.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Convierta una preocupación amplia en una pregunta trabajable. Por ejemplo, en lugar de quiero pagar menos, plantee cuánto cambia mi caja si no puedo aplicar toda la pérdida en un ejercicio. El entregable profesional puede ser una simulación, una revisión de soporte o una opinión sobre elegibilidad. El curso no determina qué servicio debe contratar cada persona: ayuda a que lo solicite con claridad.</a:t>
            </a:r>
          </a:p>
          <a:p xmlns:a="http://schemas.openxmlformats.org/drawingml/2006/main">
            <a:r>
              <a:t/>
            </a:r>
          </a:p>
          <a:p xmlns:a="http://schemas.openxmlformats.org/drawingml/2006/main">
            <a:r>
              <a:t>FUENTES Y ALCANCE</a:t>
            </a:r>
          </a:p>
          <a:p xmlns:a="http://schemas.openxmlformats.org/drawingml/2006/main">
            <a:r>
              <a:t>Metodología de trabajo propuesta para el curso, no paquete comercial publicado.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a:t>
            </a:r>
          </a:p>
          <a:p xmlns:a="http://schemas.openxmlformats.org/drawingml/2006/main">
            <a:r>
              <a:t/>
            </a:r>
          </a:p>
          <a:p xmlns:a="http://schemas.openxmlformats.org/drawingml/2006/main">
            <a:r>
              <a:t>GUION</a:t>
            </a:r>
          </a:p>
          <a:p xmlns:a="http://schemas.openxmlformats.org/drawingml/2006/main">
            <a:r>
              <a:t>El plan es una sugerencia de organización, no un plazo legal. Asigne un responsable y una fecha a cada acción. Las acciones preparatorias pueden hacerse mientras se discute el paquete. Las modificaciones en declaraciones, régimen o estructura se sustentan en la norma aplicable y el análisis individual. Pida que cada participante escriba la primera tarea que puede iniciar con su equipo.</a:t>
            </a:r>
          </a:p>
          <a:p xmlns:a="http://schemas.openxmlformats.org/drawingml/2006/main">
            <a:r>
              <a:t/>
            </a:r>
          </a:p>
          <a:p xmlns:a="http://schemas.openxmlformats.org/drawingml/2006/main">
            <a:r>
              <a:t>FUENTES Y ALCANCE</a:t>
            </a:r>
          </a:p>
          <a:p xmlns:a="http://schemas.openxmlformats.org/drawingml/2006/main">
            <a:r>
              <a:t>Plan de trabajo propuesto por el curso.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a:t>
            </a:r>
          </a:p>
          <a:p xmlns:a="http://schemas.openxmlformats.org/drawingml/2006/main">
            <a:r>
              <a:t/>
            </a:r>
          </a:p>
          <a:p xmlns:a="http://schemas.openxmlformats.org/drawingml/2006/main">
            <a:r>
              <a:t>GUION</a:t>
            </a:r>
          </a:p>
          <a:p xmlns:a="http://schemas.openxmlformats.org/drawingml/2006/main">
            <a:r>
              <a:t>Conecte los servicios que publica Stratega con las necesidades detectadas, sin atribuir certificaciones actuales ni resultados garantizados. Ejemplo: si su duda es una pérdida, el alcance puede empezar por revisar el saldo y su soporte. Si es financiamiento, también pueden importar contratos y estructura. La oferta comercial de diagnóstico sugerida en la guía interna debe acordarse por la firma antes de anunciar duración, honorarios o entregables.</a:t>
            </a:r>
          </a:p>
          <a:p xmlns:a="http://schemas.openxmlformats.org/drawingml/2006/main">
            <a:r>
              <a:t/>
            </a:r>
          </a:p>
          <a:p xmlns:a="http://schemas.openxmlformats.org/drawingml/2006/main">
            <a:r>
              <a:t>FUENTES Y ALCANCE</a:t>
            </a:r>
          </a:p>
          <a:p xmlns:a="http://schemas.openxmlformats.org/drawingml/2006/main">
            <a:r>
              <a:t>https://www.strategaconsultores.com/ y https://www.strategaconsultores.com/asesoria-fiscal; consulta del 28 de septiembre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12 minutos</a:t>
            </a:r>
          </a:p>
          <a:p xmlns:a="http://schemas.openxmlformats.org/drawingml/2006/main">
            <a:r>
              <a:t/>
            </a:r>
          </a:p>
          <a:p xmlns:a="http://schemas.openxmlformats.org/drawingml/2006/main">
            <a:r>
              <a:t>GUION</a:t>
            </a:r>
          </a:p>
          <a:p xmlns:a="http://schemas.openxmlformats.org/drawingml/2006/main">
            <a:r>
              <a:t>Responda primero la pregunta general. Si depende de datos no disponibles, diga qué información falta y cómo se analizaría. No improvise el alcance de los porcentajes de deducciones ni confirme beneficios. Reserve las consultas con documentos para el seguimiento. Si alguien pregunta cuánto ahorrará, explique que el análisis puede identificar costos adicionales, diferimientos u oportunidades, y que el resultado depende de la situación y la norma final.</a:t>
            </a:r>
          </a:p>
          <a:p xmlns:a="http://schemas.openxmlformats.org/drawingml/2006/main">
            <a:r>
              <a:t/>
            </a:r>
          </a:p>
          <a:p xmlns:a="http://schemas.openxmlformats.org/drawingml/2006/main">
            <a:r>
              <a:t>FUENTES Y ALCANCE</a:t>
            </a:r>
          </a:p>
          <a:p xmlns:a="http://schemas.openxmlformats.org/drawingml/2006/main">
            <a:r>
              <a:t>Dinámica de preguntas y respuestas.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5 minutos</a:t>
            </a:r>
          </a:p>
          <a:p xmlns:a="http://schemas.openxmlformats.org/drawingml/2006/main">
            <a:r>
              <a:t/>
            </a:r>
          </a:p>
          <a:p xmlns:a="http://schemas.openxmlformats.org/drawingml/2006/main">
            <a:r>
              <a:t>GUION</a:t>
            </a:r>
          </a:p>
          <a:p xmlns:a="http://schemas.openxmlformats.org/drawingml/2006/main">
            <a:r>
              <a:t>Cierre propuesto: Si hoy identificó una decisión que necesita números propios, contacte a Stratega con el asunto Paquete 2027. Comparta su giro, su función y el tema prioritario. El equipo podrá conversar con usted y acordar el alcance de una revisión. No ofrezca consulta gratuita ni un plazo garantizado si la firma no lo ha definido. Deje la diapositiva visible y permita que el interesado decida voluntariamente.</a:t>
            </a:r>
          </a:p>
          <a:p xmlns:a="http://schemas.openxmlformats.org/drawingml/2006/main">
            <a:r>
              <a:t/>
            </a:r>
          </a:p>
          <a:p xmlns:a="http://schemas.openxmlformats.org/drawingml/2006/main">
            <a:r>
              <a:t>FUENTES Y ALCANCE</a:t>
            </a:r>
          </a:p>
          <a:p xmlns:a="http://schemas.openxmlformats.org/drawingml/2006/main">
            <a:r>
              <a:t>Contacto público verificado: https://www.strategaconsultores.com/contactanos. El QR dirige al formulario general, no reserva una cita.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 minutos</a:t>
            </a:r>
          </a:p>
          <a:p xmlns:a="http://schemas.openxmlformats.org/drawingml/2006/main">
            <a:r>
              <a:t/>
            </a:r>
          </a:p>
          <a:p xmlns:a="http://schemas.openxmlformats.org/drawingml/2006/main">
            <a:r>
              <a:t>GUION</a:t>
            </a:r>
          </a:p>
          <a:p xmlns:a="http://schemas.openxmlformats.org/drawingml/2006/main">
            <a:r>
              <a:t>La base sustantiva 2027 es el archivo aportado por el usuario. La búsqueda localizó una referencia oficial de CGPE 2027, pero no permitió descargarla para cotejar los archivos. No se verificó de forma independiente el articulado íntegro de las iniciativas ni un decreto final 2027. Por ello se conserva la atribución a CGPE y la condición de propuesta. El Word estatal y la infografía se revisaron como contexto y no como fuentes jurídicas.</a:t>
            </a:r>
          </a:p>
          <a:p xmlns:a="http://schemas.openxmlformats.org/drawingml/2006/main">
            <a:r>
              <a:t/>
            </a:r>
          </a:p>
          <a:p xmlns:a="http://schemas.openxmlformats.org/drawingml/2006/main">
            <a:r>
              <a:t>FUENTES Y ALCANCE</a:t>
            </a:r>
          </a:p>
          <a:p xmlns:a="http://schemas.openxmlformats.org/drawingml/2006/main">
            <a:r>
              <a:t>CGPE_2027.pdf aportado por el usuario; https://www.diputados.gob.mx/LeyesBiblio/pdf/LISR.pdf; https://www.diputados.gob.mx/LeyesBiblio/pdf/LIVA.pdf; https://www.diputados.gob.mx/LeyesBiblio/pdf/LFPRH.pdf; https://www.strategaconsultores.com/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 minutos</a:t>
            </a:r>
          </a:p>
          <a:p xmlns:a="http://schemas.openxmlformats.org/drawingml/2006/main">
            <a:r>
              <a:t/>
            </a:r>
          </a:p>
          <a:p xmlns:a="http://schemas.openxmlformats.org/drawingml/2006/main">
            <a:r>
              <a:t>GUION</a:t>
            </a:r>
          </a:p>
          <a:p xmlns:a="http://schemas.openxmlformats.org/drawingml/2006/main">
            <a:r>
              <a:t>Use esta lámina solamente si necesita explicar vocabulario durante la sesión. Aclare que la deducción opera sobre una base y el acreditamiento sobre el impuesto. Una definición didáctica nunca elimina requisitos, restricciones o excepciones de la norma.</a:t>
            </a:r>
          </a:p>
          <a:p xmlns:a="http://schemas.openxmlformats.org/drawingml/2006/main">
            <a:r>
              <a:t/>
            </a:r>
          </a:p>
          <a:p xmlns:a="http://schemas.openxmlformats.org/drawingml/2006/main">
            <a:r>
              <a:t>FUENTES Y ALCANCE</a:t>
            </a:r>
          </a:p>
          <a:p xmlns:a="http://schemas.openxmlformats.org/drawingml/2006/main">
            <a:r>
              <a:t>Síntesis didáctica; LISR y LIVA consultadas.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90ecb57a2748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63de1c62f84a19" /><Relationship Type="http://schemas.openxmlformats.org/officeDocument/2006/relationships/slideLayout" Target="/ppt/slideLayouts/slideLayout1.xml" Id="R2d4f3f39be1f41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4f3f39be1f41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34d1babd0b4f71" /><Relationship Type="http://schemas.openxmlformats.org/officeDocument/2006/relationships/image" Target="/ppt/media/image.png" Id="R3a68aa35db1a4f06" /><Relationship Type="http://schemas.openxmlformats.org/officeDocument/2006/relationships/notesSlide" Target="/ppt/notesSlides/notesSlide1.xml" Id="Rb70602e77a8f4e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309a85afa04dac" /><Relationship Type="http://schemas.openxmlformats.org/officeDocument/2006/relationships/notesSlide" Target="/ppt/notesSlides/notesSlide2.xml" Id="Ra76479fd0a2640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0ba2b76da14b7e" /><Relationship Type="http://schemas.openxmlformats.org/officeDocument/2006/relationships/notesSlide" Target="/ppt/notesSlides/notesSlide3.xml" Id="R791173228ddc47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a36ca1a87a4012" /><Relationship Type="http://schemas.openxmlformats.org/officeDocument/2006/relationships/notesSlide" Target="/ppt/notesSlides/notesSlide4.xml" Id="R49923df88e2844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416c7a784d4894" /><Relationship Type="http://schemas.openxmlformats.org/officeDocument/2006/relationships/notesSlide" Target="/ppt/notesSlides/notesSlide5.xml" Id="Rce32eed63ba342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b7fb7ecf8149f1" /><Relationship Type="http://schemas.openxmlformats.org/officeDocument/2006/relationships/notesSlide" Target="/ppt/notesSlides/notesSlide6.xml" Id="R42ee7303cf6544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9c2dce432a407e" /><Relationship Type="http://schemas.openxmlformats.org/officeDocument/2006/relationships/notesSlide" Target="/ppt/notesSlides/notesSlide7.xml" Id="R16e9e8e95c4644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6b9dea51354938" /><Relationship Type="http://schemas.openxmlformats.org/officeDocument/2006/relationships/notesSlide" Target="/ppt/notesSlides/notesSlide8.xml" Id="R995ae76b1a7d4a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23d85d4b964d4e" /><Relationship Type="http://schemas.openxmlformats.org/officeDocument/2006/relationships/notesSlide" Target="/ppt/notesSlides/notesSlide9.xml" Id="Rb88a6389eedb4e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144aabe32b4b3b" /><Relationship Type="http://schemas.openxmlformats.org/officeDocument/2006/relationships/notesSlide" Target="/ppt/notesSlides/notesSlide10.xml" Id="R88835fc468574c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c487df681c4a16" /><Relationship Type="http://schemas.openxmlformats.org/officeDocument/2006/relationships/notesSlide" Target="/ppt/notesSlides/notesSlide11.xml" Id="R594529c3a9c249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fa7ec3cf3b443f" /><Relationship Type="http://schemas.openxmlformats.org/officeDocument/2006/relationships/notesSlide" Target="/ppt/notesSlides/notesSlide12.xml" Id="Re6ae2f98ff8340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4d20c49fb748ba" /><Relationship Type="http://schemas.openxmlformats.org/officeDocument/2006/relationships/notesSlide" Target="/ppt/notesSlides/notesSlide13.xml" Id="Re165d41c828e40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55a98be4cca4580" /><Relationship Type="http://schemas.openxmlformats.org/officeDocument/2006/relationships/notesSlide" Target="/ppt/notesSlides/notesSlide14.xml" Id="R393e62094e7240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c35fb17d9114744" /><Relationship Type="http://schemas.openxmlformats.org/officeDocument/2006/relationships/notesSlide" Target="/ppt/notesSlides/notesSlide15.xml" Id="R92f2cf90e6d549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39b73f018604d41" /><Relationship Type="http://schemas.openxmlformats.org/officeDocument/2006/relationships/notesSlide" Target="/ppt/notesSlides/notesSlide16.xml" Id="R8491ab758a2c45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60bebb6e5ec4d64" /><Relationship Type="http://schemas.openxmlformats.org/officeDocument/2006/relationships/notesSlide" Target="/ppt/notesSlides/notesSlide17.xml" Id="R304f2766156248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49a1d78ea8f4a4d" /><Relationship Type="http://schemas.openxmlformats.org/officeDocument/2006/relationships/notesSlide" Target="/ppt/notesSlides/notesSlide18.xml" Id="R819c5e3fbd394c4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3fb7ef90b240c8" /><Relationship Type="http://schemas.openxmlformats.org/officeDocument/2006/relationships/notesSlide" Target="/ppt/notesSlides/notesSlide19.xml" Id="Rc5f5ac61635f4e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eeb1ba4b34e42b7" /><Relationship Type="http://schemas.openxmlformats.org/officeDocument/2006/relationships/notesSlide" Target="/ppt/notesSlides/notesSlide20.xml" Id="R6b0130ef2a05452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53e42426caa49e2" /><Relationship Type="http://schemas.openxmlformats.org/officeDocument/2006/relationships/notesSlide" Target="/ppt/notesSlides/notesSlide21.xml" Id="Re1a29aef7c0f45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4efb85753044569" /><Relationship Type="http://schemas.openxmlformats.org/officeDocument/2006/relationships/notesSlide" Target="/ppt/notesSlides/notesSlide22.xml" Id="R748b27cf58db4b3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d924e253ba04dce" /><Relationship Type="http://schemas.openxmlformats.org/officeDocument/2006/relationships/notesSlide" Target="/ppt/notesSlides/notesSlide23.xml" Id="Rc59011548e67465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9d8b8bb734a49e5" /><Relationship Type="http://schemas.openxmlformats.org/officeDocument/2006/relationships/notesSlide" Target="/ppt/notesSlides/notesSlide24.xml" Id="Rf4e95acdd07849a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56089c26a2c4e18" /><Relationship Type="http://schemas.openxmlformats.org/officeDocument/2006/relationships/notesSlide" Target="/ppt/notesSlides/notesSlide25.xml" Id="R2763a66d1a4a486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eaa428bb2d24f63" /><Relationship Type="http://schemas.openxmlformats.org/officeDocument/2006/relationships/image" Target="/ppt/media/image2.png" Id="R7f56311f71b947d7" /><Relationship Type="http://schemas.openxmlformats.org/officeDocument/2006/relationships/notesSlide" Target="/ppt/notesSlides/notesSlide26.xml" Id="Ra52f2116fa434ec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dd8ef5e8b0b471c" /><Relationship Type="http://schemas.openxmlformats.org/officeDocument/2006/relationships/notesSlide" Target="/ppt/notesSlides/notesSlide27.xml" Id="Rc7b2bd0336764e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004234daaec4e9c" /><Relationship Type="http://schemas.openxmlformats.org/officeDocument/2006/relationships/notesSlide" Target="/ppt/notesSlides/notesSlide28.xml" Id="R7aa544bef10144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a68aa35db1a4f06"/>
          <a:stretch xmlns:a="http://schemas.openxmlformats.org/drawingml/2006/main"/>
        </p:blipFill>
        <p:spPr>
          <a:xfrm xmlns:a="http://schemas.openxmlformats.org/drawingml/2006/main">
            <a:off x="8440414" y="285750"/>
            <a:ext cx="2835922" cy="2190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F112CF-B321-4C9B-961C-5235109AF560}"/>
              </a:ext>
            </a:extLst>
          </p:cNvPr>
          <p:cNvSpPr>
            <a:spLocks xmlns:a="http://schemas.openxmlformats.org/drawingml/2006/main" noGrp="1"/>
          </p:cNvSpPr>
          <p:nvPr/>
        </p:nvSpPr>
        <p:spPr>
          <a:xfrm xmlns:a="http://schemas.openxmlformats.org/drawingml/2006/main">
            <a:off x="685800" y="876300"/>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60646C"/>
                </a:solidFill>
                <a:latin typeface="Arial"/>
                <a:ea typeface="Arial"/>
                <a:cs typeface="Arial"/>
              </a:defRPr>
            </a:pPr>
            <a:r>
              <a:rPr sz="1650" b="0">
                <a:solidFill>
                  <a:srgbClr val="60646C"/>
                </a:solidFill>
                <a:latin typeface="Arial"/>
                <a:ea typeface="Arial"/>
                <a:cs typeface="Arial"/>
              </a:rPr>
              <a:t>Curso divulgativo · Stratega Consultores</a:t>
            </a:r>
          </a:p>
        </p:txBody>
      </p:sp>
      <p:sp>
        <p:nvSpPr>
          <p:cNvPr id="3" name="">
            <a:extLst xmlns:a="http://schemas.openxmlformats.org/drawingml/2006/main">
              <a:ext uri="{FF2B5EF4-FFF2-40B4-BE49-F238E27FC236}">
                <a16:creationId xmlns:a16="http://schemas.microsoft.com/office/drawing/2014/main" id="{5D914439-D89A-4E10-AD85-C44E3C8A8B6B}"/>
              </a:ext>
            </a:extLst>
          </p:cNvPr>
          <p:cNvSpPr>
            <a:spLocks xmlns:a="http://schemas.openxmlformats.org/drawingml/2006/main" noGrp="1"/>
          </p:cNvSpPr>
          <p:nvPr/>
        </p:nvSpPr>
        <p:spPr>
          <a:xfrm xmlns:a="http://schemas.openxmlformats.org/drawingml/2006/main">
            <a:off x="685800" y="2247900"/>
            <a:ext cx="1038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00" b="1">
                <a:solidFill>
                  <a:srgbClr val="20242B"/>
                </a:solidFill>
                <a:latin typeface="Arial"/>
                <a:ea typeface="Arial"/>
                <a:cs typeface="Arial"/>
              </a:defRPr>
            </a:pPr>
            <a:r>
              <a:rPr sz="4800" b="1">
                <a:solidFill>
                  <a:srgbClr val="20242B"/>
                </a:solidFill>
                <a:latin typeface="Arial"/>
                <a:ea typeface="Arial"/>
                <a:cs typeface="Arial"/>
              </a:rPr>
              <a:t>Paquete Económico</a:t>
            </a:r>
          </a:p>
          <a:p xmlns:a="http://schemas.openxmlformats.org/drawingml/2006/main">
            <a:pPr>
              <a:defRPr sz="4800" b="1">
                <a:solidFill>
                  <a:srgbClr val="20242B"/>
                </a:solidFill>
                <a:latin typeface="Arial"/>
                <a:ea typeface="Arial"/>
                <a:cs typeface="Arial"/>
              </a:defRPr>
            </a:pPr>
            <a:r>
              <a:rPr sz="4800" b="1">
                <a:solidFill>
                  <a:srgbClr val="20242B"/>
                </a:solidFill>
                <a:latin typeface="Arial"/>
                <a:ea typeface="Arial"/>
                <a:cs typeface="Arial"/>
              </a:rPr>
              <a:t>Fiscal 2027</a:t>
            </a:r>
          </a:p>
        </p:txBody>
      </p:sp>
      <p:sp>
        <p:nvSpPr>
          <p:cNvPr id="4" name="">
            <a:extLst xmlns:a="http://schemas.openxmlformats.org/drawingml/2006/main">
              <a:ext uri="{FF2B5EF4-FFF2-40B4-BE49-F238E27FC236}">
                <a16:creationId xmlns:a16="http://schemas.microsoft.com/office/drawing/2014/main" id="{5B1E82BF-6994-4129-AC33-BF1294025773}"/>
              </a:ext>
            </a:extLst>
          </p:cNvPr>
          <p:cNvSpPr>
            <a:spLocks xmlns:a="http://schemas.openxmlformats.org/drawingml/2006/main" noGrp="1"/>
          </p:cNvSpPr>
          <p:nvPr/>
        </p:nvSpPr>
        <p:spPr>
          <a:xfrm xmlns:a="http://schemas.openxmlformats.org/drawingml/2006/main">
            <a:off x="723900" y="41910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0">
                <a:solidFill>
                  <a:srgbClr val="A51C30"/>
                </a:solidFill>
                <a:latin typeface="Arial"/>
                <a:ea typeface="Arial"/>
                <a:cs typeface="Arial"/>
              </a:defRPr>
            </a:pPr>
            <a:r>
              <a:rPr sz="2700" b="0">
                <a:solidFill>
                  <a:srgbClr val="A51C30"/>
                </a:solidFill>
                <a:latin typeface="Arial"/>
                <a:ea typeface="Arial"/>
                <a:cs typeface="Arial"/>
              </a:rPr>
              <a:t>Decisiones para tu empresa</a:t>
            </a:r>
          </a:p>
        </p:txBody>
      </p:sp>
      <p:sp>
        <p:nvSpPr>
          <p:cNvPr id="5" name="">
            <a:extLst xmlns:a="http://schemas.openxmlformats.org/drawingml/2006/main">
              <a:ext uri="{FF2B5EF4-FFF2-40B4-BE49-F238E27FC236}">
                <a16:creationId xmlns:a16="http://schemas.microsoft.com/office/drawing/2014/main" id="{B5B7E9B0-C20C-43C0-87B5-33C6825AE9B4}"/>
              </a:ext>
            </a:extLst>
          </p:cNvPr>
          <p:cNvSpPr>
            <a:spLocks xmlns:a="http://schemas.openxmlformats.org/drawingml/2006/main" noGrp="1"/>
          </p:cNvSpPr>
          <p:nvPr/>
        </p:nvSpPr>
        <p:spPr>
          <a:xfrm xmlns:a="http://schemas.openxmlformats.org/drawingml/2006/main">
            <a:off x="723900" y="59436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60646C"/>
                </a:solidFill>
                <a:latin typeface="Arial"/>
                <a:ea typeface="Arial"/>
                <a:cs typeface="Arial"/>
              </a:defRPr>
            </a:pPr>
            <a:r>
              <a:rPr sz="1500" b="0">
                <a:solidFill>
                  <a:srgbClr val="60646C"/>
                </a:solidFill>
                <a:latin typeface="Arial"/>
                <a:ea typeface="Arial"/>
                <a:cs typeface="Arial"/>
              </a:rPr>
              <a:t>28 de septiembre de 2026 · Edición sobre propuestas</a:t>
            </a:r>
          </a:p>
        </p:txBody>
      </p:sp>
    </p:spTree>
    <p:extLst>
      <p:ext uri="{BB962C8B-B14F-4D97-AF65-F5344CB8AC3E}">
        <p14:creationId xmlns:p14="http://schemas.microsoft.com/office/powerpoint/2010/main" val="2075252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683FFA-B242-497C-BC28-F71EF6524ECA}"/>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La pregunta de hoy</a:t>
            </a:r>
          </a:p>
        </p:txBody>
      </p:sp>
      <p:sp>
        <p:nvSpPr>
          <p:cNvPr id="2" name="">
            <a:extLst xmlns:a="http://schemas.openxmlformats.org/drawingml/2006/main">
              <a:ext uri="{FF2B5EF4-FFF2-40B4-BE49-F238E27FC236}">
                <a16:creationId xmlns:a16="http://schemas.microsoft.com/office/drawing/2014/main" id="{5E809072-C53D-49AF-B349-E6E26A0AD746}"/>
              </a:ext>
            </a:extLst>
          </p:cNvPr>
          <p:cNvSpPr>
            <a:spLocks xmlns:a="http://schemas.openxmlformats.org/drawingml/2006/main" noGrp="1"/>
          </p:cNvSpPr>
          <p:nvPr/>
        </p:nvSpPr>
        <p:spPr>
          <a:xfrm xmlns:a="http://schemas.openxmlformats.org/drawingml/2006/main">
            <a:off x="685800" y="19812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1">
                <a:solidFill>
                  <a:srgbClr val="A51C30"/>
                </a:solidFill>
                <a:latin typeface="Arial"/>
                <a:ea typeface="Arial"/>
                <a:cs typeface="Arial"/>
              </a:defRPr>
            </a:pPr>
            <a:r>
              <a:rPr sz="4275" b="1">
                <a:solidFill>
                  <a:srgbClr val="A51C30"/>
                </a:solidFill>
                <a:latin typeface="Arial"/>
                <a:ea typeface="Arial"/>
                <a:cs typeface="Arial"/>
              </a:rPr>
              <a:t>¿Qué cambiaría en tu caja</a:t>
            </a:r>
          </a:p>
          <a:p xmlns:a="http://schemas.openxmlformats.org/drawingml/2006/main">
            <a:pPr>
              <a:defRPr sz="4275" b="1">
                <a:solidFill>
                  <a:srgbClr val="A51C30"/>
                </a:solidFill>
                <a:latin typeface="Arial"/>
                <a:ea typeface="Arial"/>
                <a:cs typeface="Arial"/>
              </a:defRPr>
            </a:pPr>
            <a:r>
              <a:rPr sz="4275" b="1">
                <a:solidFill>
                  <a:srgbClr val="A51C30"/>
                </a:solidFill>
                <a:latin typeface="Arial"/>
                <a:ea typeface="Arial"/>
                <a:cs typeface="Arial"/>
              </a:rPr>
              <a:t>si cambia la forma de calcular</a:t>
            </a:r>
          </a:p>
          <a:p xmlns:a="http://schemas.openxmlformats.org/drawingml/2006/main">
            <a:pPr>
              <a:defRPr sz="4275" b="1">
                <a:solidFill>
                  <a:srgbClr val="A51C30"/>
                </a:solidFill>
                <a:latin typeface="Arial"/>
                <a:ea typeface="Arial"/>
                <a:cs typeface="Arial"/>
              </a:defRPr>
            </a:pPr>
            <a:r>
              <a:rPr sz="4275" b="1">
                <a:solidFill>
                  <a:srgbClr val="A51C30"/>
                </a:solidFill>
                <a:latin typeface="Arial"/>
                <a:ea typeface="Arial"/>
                <a:cs typeface="Arial"/>
              </a:rPr>
              <a:t>tu impuesto?</a:t>
            </a:r>
          </a:p>
        </p:txBody>
      </p:sp>
      <p:sp>
        <p:nvSpPr>
          <p:cNvPr id="3" name="">
            <a:extLst xmlns:a="http://schemas.openxmlformats.org/drawingml/2006/main">
              <a:ext uri="{FF2B5EF4-FFF2-40B4-BE49-F238E27FC236}">
                <a16:creationId xmlns:a16="http://schemas.microsoft.com/office/drawing/2014/main" id="{5399A431-A37F-4508-8D0A-6D8F664399A5}"/>
              </a:ext>
            </a:extLst>
          </p:cNvPr>
          <p:cNvSpPr>
            <a:spLocks xmlns:a="http://schemas.openxmlformats.org/drawingml/2006/main" noGrp="1"/>
          </p:cNvSpPr>
          <p:nvPr/>
        </p:nvSpPr>
        <p:spPr>
          <a:xfrm xmlns:a="http://schemas.openxmlformats.org/drawingml/2006/main">
            <a:off x="723900" y="46863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60646C"/>
                </a:solidFill>
                <a:latin typeface="Arial"/>
                <a:ea typeface="Arial"/>
                <a:cs typeface="Arial"/>
              </a:defRPr>
            </a:pPr>
            <a:r>
              <a:rPr sz="2025" b="0">
                <a:solidFill>
                  <a:srgbClr val="60646C"/>
                </a:solidFill>
                <a:latin typeface="Arial"/>
                <a:ea typeface="Arial"/>
                <a:cs typeface="Arial"/>
              </a:rPr>
              <a:t>Piensa en una inversión, un crédito o una pérdida fiscal pendiente.</a:t>
            </a:r>
          </a:p>
        </p:txBody>
      </p:sp>
      <p:sp>
        <p:nvSpPr>
          <p:cNvPr id="4" name="">
            <a:extLst xmlns:a="http://schemas.openxmlformats.org/drawingml/2006/main">
              <a:ext uri="{FF2B5EF4-FFF2-40B4-BE49-F238E27FC236}">
                <a16:creationId xmlns:a16="http://schemas.microsoft.com/office/drawing/2014/main" id="{A7D11D40-B3B5-4E72-981D-421B7B4550CD}"/>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02</a:t>
            </a:r>
          </a:p>
        </p:txBody>
      </p:sp>
    </p:spTree>
    <p:extLst>
      <p:ext uri="{BB962C8B-B14F-4D97-AF65-F5344CB8AC3E}">
        <p14:creationId xmlns:p14="http://schemas.microsoft.com/office/powerpoint/2010/main" val="6885257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9E355C-D144-440B-9BA8-596A61CD1E91}"/>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Lo que te llevarás</a:t>
            </a:r>
          </a:p>
        </p:txBody>
      </p:sp>
      <p:sp>
        <p:nvSpPr>
          <p:cNvPr id="2" name="">
            <a:extLst xmlns:a="http://schemas.openxmlformats.org/drawingml/2006/main">
              <a:ext uri="{FF2B5EF4-FFF2-40B4-BE49-F238E27FC236}">
                <a16:creationId xmlns:a16="http://schemas.microsoft.com/office/drawing/2014/main" id="{859471C1-53C2-4167-A34F-9D2AAE012E29}"/>
              </a:ext>
            </a:extLst>
          </p:cNvPr>
          <p:cNvSpPr>
            <a:spLocks xmlns:a="http://schemas.openxmlformats.org/drawingml/2006/main" noGrp="1"/>
          </p:cNvSpPr>
          <p:nvPr/>
        </p:nvSpPr>
        <p:spPr>
          <a:xfrm xmlns:a="http://schemas.openxmlformats.org/drawingml/2006/main">
            <a:off x="685800" y="18288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Entender</a:t>
            </a:r>
          </a:p>
        </p:txBody>
      </p:sp>
      <p:sp>
        <p:nvSpPr>
          <p:cNvPr id="3" name="">
            <a:extLst xmlns:a="http://schemas.openxmlformats.org/drawingml/2006/main">
              <a:ext uri="{FF2B5EF4-FFF2-40B4-BE49-F238E27FC236}">
                <a16:creationId xmlns:a16="http://schemas.microsoft.com/office/drawing/2014/main" id="{5140435F-E48C-401F-95DC-E3F74B69EA8D}"/>
              </a:ext>
            </a:extLst>
          </p:cNvPr>
          <p:cNvSpPr>
            <a:spLocks xmlns:a="http://schemas.openxmlformats.org/drawingml/2006/main" noGrp="1"/>
          </p:cNvSpPr>
          <p:nvPr/>
        </p:nvSpPr>
        <p:spPr>
          <a:xfrm xmlns:a="http://schemas.openxmlformats.org/drawingml/2006/main">
            <a:off x="4095750" y="18288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Distinguir el entorno económico de una obligación fiscal.</a:t>
            </a:r>
          </a:p>
        </p:txBody>
      </p:sp>
      <p:sp>
        <p:nvSpPr>
          <p:cNvPr id="4" name="">
            <a:extLst xmlns:a="http://schemas.openxmlformats.org/drawingml/2006/main">
              <a:ext uri="{FF2B5EF4-FFF2-40B4-BE49-F238E27FC236}">
                <a16:creationId xmlns:a16="http://schemas.microsoft.com/office/drawing/2014/main" id="{672DF4BC-7243-4603-BC99-9AC804EA04DF}"/>
              </a:ext>
            </a:extLst>
          </p:cNvPr>
          <p:cNvSpPr>
            <a:spLocks xmlns:a="http://schemas.openxmlformats.org/drawingml/2006/main" noGrp="1"/>
          </p:cNvSpPr>
          <p:nvPr/>
        </p:nvSpPr>
        <p:spPr>
          <a:xfrm xmlns:a="http://schemas.openxmlformats.org/drawingml/2006/main">
            <a:off x="685800" y="30289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Estimar</a:t>
            </a:r>
          </a:p>
        </p:txBody>
      </p:sp>
      <p:sp>
        <p:nvSpPr>
          <p:cNvPr id="5" name="">
            <a:extLst xmlns:a="http://schemas.openxmlformats.org/drawingml/2006/main">
              <a:ext uri="{FF2B5EF4-FFF2-40B4-BE49-F238E27FC236}">
                <a16:creationId xmlns:a16="http://schemas.microsoft.com/office/drawing/2014/main" id="{14B0DC57-9C55-4331-9186-783A6FD79698}"/>
              </a:ext>
            </a:extLst>
          </p:cNvPr>
          <p:cNvSpPr>
            <a:spLocks xmlns:a="http://schemas.openxmlformats.org/drawingml/2006/main" noGrp="1"/>
          </p:cNvSpPr>
          <p:nvPr/>
        </p:nvSpPr>
        <p:spPr>
          <a:xfrm xmlns:a="http://schemas.openxmlformats.org/drawingml/2006/main">
            <a:off x="4095750" y="302895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Comparar dos escenarios con números sencillos.</a:t>
            </a:r>
          </a:p>
        </p:txBody>
      </p:sp>
      <p:sp>
        <p:nvSpPr>
          <p:cNvPr id="6" name="">
            <a:extLst xmlns:a="http://schemas.openxmlformats.org/drawingml/2006/main">
              <a:ext uri="{FF2B5EF4-FFF2-40B4-BE49-F238E27FC236}">
                <a16:creationId xmlns:a16="http://schemas.microsoft.com/office/drawing/2014/main" id="{D8F1F677-30BD-4E14-B88C-B62F56AC4CC1}"/>
              </a:ext>
            </a:extLst>
          </p:cNvPr>
          <p:cNvSpPr>
            <a:spLocks xmlns:a="http://schemas.openxmlformats.org/drawingml/2006/main" noGrp="1"/>
          </p:cNvSpPr>
          <p:nvPr/>
        </p:nvSpPr>
        <p:spPr>
          <a:xfrm xmlns:a="http://schemas.openxmlformats.org/drawingml/2006/main">
            <a:off x="685800" y="42291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Actuar</a:t>
            </a:r>
          </a:p>
        </p:txBody>
      </p:sp>
      <p:sp>
        <p:nvSpPr>
          <p:cNvPr id="7" name="">
            <a:extLst xmlns:a="http://schemas.openxmlformats.org/drawingml/2006/main">
              <a:ext uri="{FF2B5EF4-FFF2-40B4-BE49-F238E27FC236}">
                <a16:creationId xmlns:a16="http://schemas.microsoft.com/office/drawing/2014/main" id="{72F2AAE7-2B5C-4017-9EA4-0B82FE83C6AD}"/>
              </a:ext>
            </a:extLst>
          </p:cNvPr>
          <p:cNvSpPr>
            <a:spLocks xmlns:a="http://schemas.openxmlformats.org/drawingml/2006/main" noGrp="1"/>
          </p:cNvSpPr>
          <p:nvPr/>
        </p:nvSpPr>
        <p:spPr>
          <a:xfrm xmlns:a="http://schemas.openxmlformats.org/drawingml/2006/main">
            <a:off x="4095750" y="42291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Elegir una revisión y asignarle responsable.</a:t>
            </a:r>
          </a:p>
        </p:txBody>
      </p:sp>
      <p:sp>
        <p:nvSpPr>
          <p:cNvPr id="8" name="">
            <a:extLst xmlns:a="http://schemas.openxmlformats.org/drawingml/2006/main">
              <a:ext uri="{FF2B5EF4-FFF2-40B4-BE49-F238E27FC236}">
                <a16:creationId xmlns:a16="http://schemas.microsoft.com/office/drawing/2014/main" id="{62ED3189-DC41-4B6B-88E7-71A2ECFC876D}"/>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03</a:t>
            </a:r>
          </a:p>
        </p:txBody>
      </p:sp>
    </p:spTree>
    <p:extLst>
      <p:ext uri="{BB962C8B-B14F-4D97-AF65-F5344CB8AC3E}">
        <p14:creationId xmlns:p14="http://schemas.microsoft.com/office/powerpoint/2010/main" val="12211153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C1A212-E75E-4050-A25A-F4B3E77CA652}"/>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Qué integra el Paquete Económico</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647700">
                <a:tc>
                  <a:txBody>
                    <a:bodyPr/>
                    <a:lstStyle/>
                    <a:p>
                      <a:r>
                        <a:rPr sz="1875" b="1">
                          <a:solidFill>
                            <a:srgbClr val="FFFFFF"/>
                          </a:solidFill>
                          <a:latin typeface="Arial"/>
                          <a:ea typeface="Arial"/>
                          <a:cs typeface="Arial"/>
                        </a:rPr>
                        <a:t>Documento</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Qué nos dice</a:t>
                      </a:r>
                    </a:p>
                  </a:txBody>
                  <a:tcPr marL="152400" marR="133350" marT="76200" marB="76200" anchor="ctr">
                    <a:solidFill>
                      <a:srgbClr val="30343B"/>
                    </a:solidFill>
                  </a:tcPr>
                </a:tc>
              </a:tr>
              <a:tr h="647700">
                <a:tc>
                  <a:txBody>
                    <a:bodyPr/>
                    <a:lstStyle/>
                    <a:p>
                      <a:r>
                        <a:rPr sz="1950" b="0">
                          <a:solidFill>
                            <a:srgbClr val="20242B"/>
                          </a:solidFill>
                          <a:latin typeface="Arial"/>
                          <a:ea typeface="Arial"/>
                          <a:cs typeface="Arial"/>
                        </a:rPr>
                        <a:t>CGPE</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Supuestos y orientación de política económica.</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Iniciativa de Ley de Ingresos</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Cómo se propone obtener recursos.</a:t>
                      </a:r>
                    </a:p>
                  </a:txBody>
                  <a:tcPr marL="152400" marR="133350" marT="76200" marB="76200" anchor="ctr">
                    <a:solidFill>
                      <a:srgbClr val="FFFFFF"/>
                    </a:solidFill>
                  </a:tcPr>
                </a:tc>
              </a:tr>
              <a:tr h="647700">
                <a:tc>
                  <a:txBody>
                    <a:bodyPr/>
                    <a:lstStyle/>
                    <a:p>
                      <a:r>
                        <a:rPr sz="1950" b="0">
                          <a:solidFill>
                            <a:srgbClr val="20242B"/>
                          </a:solidFill>
                          <a:latin typeface="Arial"/>
                          <a:ea typeface="Arial"/>
                          <a:cs typeface="Arial"/>
                        </a:rPr>
                        <a:t>Proyecto de Presupuesto de Egresos</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En qué se propone gastar.</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Iniciativas de reforma</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Qué disposiciones tributarias se propone modificar.</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2F6DAB1-B7D3-4D50-906D-507AB2D5E45B}"/>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Cada documento tiene una función y un proceso de aprobación.</a:t>
            </a:r>
          </a:p>
        </p:txBody>
      </p:sp>
      <p:sp>
        <p:nvSpPr>
          <p:cNvPr id="4" name="">
            <a:extLst xmlns:a="http://schemas.openxmlformats.org/drawingml/2006/main">
              <a:ext uri="{FF2B5EF4-FFF2-40B4-BE49-F238E27FC236}">
                <a16:creationId xmlns:a16="http://schemas.microsoft.com/office/drawing/2014/main" id="{0236E346-EEE4-4B31-A7A3-AA206B818B6D}"/>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04</a:t>
            </a:r>
          </a:p>
        </p:txBody>
      </p:sp>
    </p:spTree>
    <p:extLst>
      <p:ext uri="{BB962C8B-B14F-4D97-AF65-F5344CB8AC3E}">
        <p14:creationId xmlns:p14="http://schemas.microsoft.com/office/powerpoint/2010/main" val="1402690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BF408C-0A79-461B-8EB2-164141AE5A71}"/>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Propuesta, aprobación y entrada en vigor</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647700">
                <a:tc>
                  <a:txBody>
                    <a:bodyPr/>
                    <a:lstStyle/>
                    <a:p>
                      <a:r>
                        <a:rPr sz="1875" b="1">
                          <a:solidFill>
                            <a:srgbClr val="FFFFFF"/>
                          </a:solidFill>
                          <a:latin typeface="Arial"/>
                          <a:ea typeface="Arial"/>
                          <a:cs typeface="Arial"/>
                        </a:rPr>
                        <a:t>Momento</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Qué revisar</a:t>
                      </a:r>
                    </a:p>
                  </a:txBody>
                  <a:tcPr marL="152400" marR="133350" marT="76200" marB="76200" anchor="ctr">
                    <a:solidFill>
                      <a:srgbClr val="30343B"/>
                    </a:solidFill>
                  </a:tcPr>
                </a:tc>
              </a:tr>
              <a:tr h="647700">
                <a:tc>
                  <a:txBody>
                    <a:bodyPr/>
                    <a:lstStyle/>
                    <a:p>
                      <a:r>
                        <a:rPr sz="1950" b="0">
                          <a:solidFill>
                            <a:srgbClr val="20242B"/>
                          </a:solidFill>
                          <a:latin typeface="Arial"/>
                          <a:ea typeface="Arial"/>
                          <a:cs typeface="Arial"/>
                        </a:rPr>
                        <a:t>Propuesta</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Documento, alcance y sujetos incluidos.</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Discusión y aprobación</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Cambios en dictámenes y texto votado.</a:t>
                      </a:r>
                    </a:p>
                  </a:txBody>
                  <a:tcPr marL="152400" marR="133350" marT="76200" marB="76200" anchor="ctr">
                    <a:solidFill>
                      <a:srgbClr val="FFFFFF"/>
                    </a:solidFill>
                  </a:tcPr>
                </a:tc>
              </a:tr>
              <a:tr h="647700">
                <a:tc>
                  <a:txBody>
                    <a:bodyPr/>
                    <a:lstStyle/>
                    <a:p>
                      <a:r>
                        <a:rPr sz="1950" b="0">
                          <a:solidFill>
                            <a:srgbClr val="20242B"/>
                          </a:solidFill>
                          <a:latin typeface="Arial"/>
                          <a:ea typeface="Arial"/>
                          <a:cs typeface="Arial"/>
                        </a:rPr>
                        <a:t>Publicación</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Decreto en el Diario Oficial de la Federación.</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Entrada en vigor</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Fechas, transitorios y reglas aplicables.</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07EAE84-783A-44AF-AE7D-F48B2B5CF270}"/>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Calendario ordinario: LIF, 20 y 31 de octubre. PEF, 15 de noviembre.</a:t>
            </a:r>
          </a:p>
        </p:txBody>
      </p:sp>
      <p:sp>
        <p:nvSpPr>
          <p:cNvPr id="4" name="">
            <a:extLst xmlns:a="http://schemas.openxmlformats.org/drawingml/2006/main">
              <a:ext uri="{FF2B5EF4-FFF2-40B4-BE49-F238E27FC236}">
                <a16:creationId xmlns:a16="http://schemas.microsoft.com/office/drawing/2014/main" id="{964393D2-57B2-428E-AF54-7B7E26C207D8}"/>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05</a:t>
            </a:r>
          </a:p>
        </p:txBody>
      </p:sp>
    </p:spTree>
    <p:extLst>
      <p:ext uri="{BB962C8B-B14F-4D97-AF65-F5344CB8AC3E}">
        <p14:creationId xmlns:p14="http://schemas.microsoft.com/office/powerpoint/2010/main" val="12073246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CE42E3-94F7-409A-A977-E3AC21E5BC7D}"/>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El escenario económico para 2027</a:t>
            </a:r>
          </a:p>
        </p:txBody>
      </p:sp>
      <p:graphicFrame>
        <p:nvGraphicFramePr>
          <p:cNvPr id="7"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647700">
                <a:tc>
                  <a:txBody>
                    <a:bodyPr/>
                    <a:lstStyle/>
                    <a:p>
                      <a:r>
                        <a:rPr sz="1875" b="1">
                          <a:solidFill>
                            <a:srgbClr val="FFFFFF"/>
                          </a:solidFill>
                          <a:latin typeface="Arial"/>
                          <a:ea typeface="Arial"/>
                          <a:cs typeface="Arial"/>
                        </a:rPr>
                        <a:t>Variable</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Proyección en CGPE</a:t>
                      </a:r>
                    </a:p>
                  </a:txBody>
                  <a:tcPr marL="152400" marR="133350" marT="76200" marB="76200" anchor="ctr">
                    <a:solidFill>
                      <a:srgbClr val="30343B"/>
                    </a:solidFill>
                  </a:tcPr>
                </a:tc>
              </a:tr>
              <a:tr h="647700">
                <a:tc>
                  <a:txBody>
                    <a:bodyPr/>
                    <a:lstStyle/>
                    <a:p>
                      <a:r>
                        <a:rPr sz="1950" b="0">
                          <a:solidFill>
                            <a:srgbClr val="20242B"/>
                          </a:solidFill>
                          <a:latin typeface="Arial"/>
                          <a:ea typeface="Arial"/>
                          <a:cs typeface="Arial"/>
                        </a:rPr>
                        <a:t>PIB real anual</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1.5% a 2.5%</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Inflación al cierre / promedio</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3.0% / 3.2%</a:t>
                      </a:r>
                    </a:p>
                  </a:txBody>
                  <a:tcPr marL="152400" marR="133350" marT="76200" marB="76200" anchor="ctr">
                    <a:solidFill>
                      <a:srgbClr val="FFFFFF"/>
                    </a:solidFill>
                  </a:tcPr>
                </a:tc>
              </a:tr>
              <a:tr h="647700">
                <a:tc>
                  <a:txBody>
                    <a:bodyPr/>
                    <a:lstStyle/>
                    <a:p>
                      <a:r>
                        <a:rPr sz="1950" b="0">
                          <a:solidFill>
                            <a:srgbClr val="20242B"/>
                          </a:solidFill>
                          <a:latin typeface="Arial"/>
                          <a:ea typeface="Arial"/>
                          <a:cs typeface="Arial"/>
                        </a:rPr>
                        <a:t>Tipo de cambio al cierre / promedio</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18.0 / 17.9 MXN por USD</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Cetes a 28 días al cierre</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6.0%</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FE9F38F-8CBD-4D41-A196-E2EBB65FDB54}"/>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Son supuestos de planeación. No garantizan ventas, precios ni crédito.</a:t>
            </a:r>
          </a:p>
        </p:txBody>
      </p:sp>
      <p:sp>
        <p:nvSpPr>
          <p:cNvPr id="4" name="">
            <a:extLst xmlns:a="http://schemas.openxmlformats.org/drawingml/2006/main">
              <a:ext uri="{FF2B5EF4-FFF2-40B4-BE49-F238E27FC236}">
                <a16:creationId xmlns:a16="http://schemas.microsoft.com/office/drawing/2014/main" id="{CEF61E32-271D-4E90-B868-2D5443AF3B28}"/>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06</a:t>
            </a:r>
          </a:p>
        </p:txBody>
      </p:sp>
      <p:sp>
        <p:nvSpPr>
          <p:cNvPr id="5" name="">
            <a:extLst xmlns:a="http://schemas.openxmlformats.org/drawingml/2006/main">
              <a:ext uri="{FF2B5EF4-FFF2-40B4-BE49-F238E27FC236}">
                <a16:creationId xmlns:a16="http://schemas.microsoft.com/office/drawing/2014/main" id="{7508FED8-A4D7-4E9F-8061-6872811D9D0D}"/>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18669729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FD9DC9-5F11-407B-AC7A-FC38A58AA6FA}"/>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Un dólar más caro cambia el presupuesto</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4953000"/>
                <a:gridCol w="2933700"/>
                <a:gridCol w="2933700"/>
              </a:tblGrid>
              <a:tr h="809625">
                <a:tc>
                  <a:txBody>
                    <a:bodyPr/>
                    <a:lstStyle/>
                    <a:p>
                      <a:r>
                        <a:rPr sz="1875" b="1">
                          <a:solidFill>
                            <a:srgbClr val="FFFFFF"/>
                          </a:solidFill>
                          <a:latin typeface="Arial"/>
                          <a:ea typeface="Arial"/>
                          <a:cs typeface="Arial"/>
                        </a:rPr>
                        <a:t>Compra de USD 100,000</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Escenario A</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Escenario B</a:t>
                      </a:r>
                    </a:p>
                  </a:txBody>
                  <a:tcPr marL="152400" marR="133350" marT="76200" marB="76200" anchor="ctr">
                    <a:solidFill>
                      <a:srgbClr val="30343B"/>
                    </a:solidFill>
                  </a:tcPr>
                </a:tc>
              </a:tr>
              <a:tr h="809625">
                <a:tc>
                  <a:txBody>
                    <a:bodyPr/>
                    <a:lstStyle/>
                    <a:p>
                      <a:r>
                        <a:rPr sz="1950" b="0">
                          <a:solidFill>
                            <a:srgbClr val="20242B"/>
                          </a:solidFill>
                          <a:latin typeface="Arial"/>
                          <a:ea typeface="Arial"/>
                          <a:cs typeface="Arial"/>
                        </a:rPr>
                        <a:t>Tipo de cambio supuesto</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18.00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19.50</a:t>
                      </a:r>
                    </a:p>
                  </a:txBody>
                  <a:tcPr marL="152400" marR="133350" marT="76200" marB="76200" anchor="ctr">
                    <a:solidFill>
                      <a:srgbClr val="F6F6F6"/>
                    </a:solidFill>
                  </a:tcPr>
                </a:tc>
              </a:tr>
              <a:tr h="809625">
                <a:tc>
                  <a:txBody>
                    <a:bodyPr/>
                    <a:lstStyle/>
                    <a:p>
                      <a:r>
                        <a:rPr sz="1950" b="0">
                          <a:solidFill>
                            <a:srgbClr val="20242B"/>
                          </a:solidFill>
                          <a:latin typeface="Arial"/>
                          <a:ea typeface="Arial"/>
                          <a:cs typeface="Arial"/>
                        </a:rPr>
                        <a:t>Costo en pesos</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$1,800,000</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$1,950,000</a:t>
                      </a:r>
                    </a:p>
                  </a:txBody>
                  <a:tcPr marL="152400" marR="133350" marT="76200" marB="76200" anchor="ctr">
                    <a:solidFill>
                      <a:srgbClr val="FFFFFF"/>
                    </a:solidFill>
                  </a:tcPr>
                </a:tc>
              </a:tr>
              <a:tr h="809625">
                <a:tc>
                  <a:txBody>
                    <a:bodyPr/>
                    <a:lstStyle/>
                    <a:p>
                      <a:r>
                        <a:rPr sz="1950" b="0">
                          <a:solidFill>
                            <a:srgbClr val="20242B"/>
                          </a:solidFill>
                          <a:latin typeface="Arial"/>
                          <a:ea typeface="Arial"/>
                          <a:cs typeface="Arial"/>
                        </a:rPr>
                        <a:t>Diferencia de caja</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$150,000</a:t>
                      </a:r>
                    </a:p>
                  </a:txBody>
                  <a:tcPr marL="152400" marR="133350" marT="76200" marB="76200" anchor="ctr">
                    <a:solidFill>
                      <a:srgbClr val="F6F6F6"/>
                    </a:solidFill>
                  </a:tcPr>
                </a:tc>
              </a:tr>
            </a:tbl>
          </a:graphicData>
        </a:graphic>
      </p:graphicFrame>
      <p:sp>
        <p:nvSpPr>
          <p:cNvPr id="3" name="">
            <a:extLst xmlns:a="http://schemas.openxmlformats.org/drawingml/2006/main">
              <a:ext uri="{FF2B5EF4-FFF2-40B4-BE49-F238E27FC236}">
                <a16:creationId xmlns:a16="http://schemas.microsoft.com/office/drawing/2014/main" id="{EBAD3705-D77E-40CF-9F55-0B3152A402C2}"/>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Ejemplo hipotético. No incluye impuestos, comisiones ni cobertura cambiaria.</a:t>
            </a:r>
          </a:p>
        </p:txBody>
      </p:sp>
      <p:sp>
        <p:nvSpPr>
          <p:cNvPr id="4" name="">
            <a:extLst xmlns:a="http://schemas.openxmlformats.org/drawingml/2006/main">
              <a:ext uri="{FF2B5EF4-FFF2-40B4-BE49-F238E27FC236}">
                <a16:creationId xmlns:a16="http://schemas.microsoft.com/office/drawing/2014/main" id="{A388DC23-5F44-407B-A5BF-865AEAA16005}"/>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07</a:t>
            </a:r>
          </a:p>
        </p:txBody>
      </p:sp>
    </p:spTree>
    <p:extLst>
      <p:ext uri="{BB962C8B-B14F-4D97-AF65-F5344CB8AC3E}">
        <p14:creationId xmlns:p14="http://schemas.microsoft.com/office/powerpoint/2010/main" val="14726868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40EBC2-116F-4DBD-B7F8-944C699DF06A}"/>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La recaudación es un eje del paquete</a:t>
            </a:r>
          </a:p>
        </p:txBody>
      </p:sp>
      <p:sp>
        <p:nvSpPr>
          <p:cNvPr id="2" name="">
            <a:extLst xmlns:a="http://schemas.openxmlformats.org/drawingml/2006/main">
              <a:ext uri="{FF2B5EF4-FFF2-40B4-BE49-F238E27FC236}">
                <a16:creationId xmlns:a16="http://schemas.microsoft.com/office/drawing/2014/main" id="{7F5E18E5-8C6A-451B-B24F-25BD01817B29}"/>
              </a:ext>
            </a:extLst>
          </p:cNvPr>
          <p:cNvSpPr>
            <a:spLocks xmlns:a="http://schemas.openxmlformats.org/drawingml/2006/main" noGrp="1"/>
          </p:cNvSpPr>
          <p:nvPr/>
        </p:nvSpPr>
        <p:spPr>
          <a:xfrm xmlns:a="http://schemas.openxmlformats.org/drawingml/2006/main">
            <a:off x="685800" y="19812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300" b="1">
                <a:solidFill>
                  <a:srgbClr val="A51C30"/>
                </a:solidFill>
                <a:latin typeface="Arial"/>
                <a:ea typeface="Arial"/>
                <a:cs typeface="Arial"/>
              </a:defRPr>
            </a:pPr>
            <a:r>
              <a:rPr sz="6300" b="1">
                <a:solidFill>
                  <a:srgbClr val="A51C30"/>
                </a:solidFill>
                <a:latin typeface="Arial"/>
                <a:ea typeface="Arial"/>
                <a:cs typeface="Arial"/>
              </a:rPr>
              <a:t>15.9% del PIB</a:t>
            </a:r>
          </a:p>
        </p:txBody>
      </p:sp>
      <p:sp>
        <p:nvSpPr>
          <p:cNvPr id="3" name="">
            <a:extLst xmlns:a="http://schemas.openxmlformats.org/drawingml/2006/main">
              <a:ext uri="{FF2B5EF4-FFF2-40B4-BE49-F238E27FC236}">
                <a16:creationId xmlns:a16="http://schemas.microsoft.com/office/drawing/2014/main" id="{D47DD456-32D7-4F2B-A6D0-0E6EEA61EC4A}"/>
              </a:ext>
            </a:extLst>
          </p:cNvPr>
          <p:cNvSpPr>
            <a:spLocks xmlns:a="http://schemas.openxmlformats.org/drawingml/2006/main" noGrp="1"/>
          </p:cNvSpPr>
          <p:nvPr/>
        </p:nvSpPr>
        <p:spPr>
          <a:xfrm xmlns:a="http://schemas.openxmlformats.org/drawingml/2006/main">
            <a:off x="723900" y="46863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60646C"/>
                </a:solidFill>
                <a:latin typeface="Arial"/>
                <a:ea typeface="Arial"/>
                <a:cs typeface="Arial"/>
              </a:defRPr>
            </a:pPr>
            <a:r>
              <a:rPr sz="2025" b="0">
                <a:solidFill>
                  <a:srgbClr val="60646C"/>
                </a:solidFill>
                <a:latin typeface="Arial"/>
                <a:ea typeface="Arial"/>
                <a:cs typeface="Arial"/>
              </a:rPr>
              <a:t>Ingresos tributarios proyectados para 2027</a:t>
            </a:r>
          </a:p>
          <a:p xmlns:a="http://schemas.openxmlformats.org/drawingml/2006/main">
            <a:pPr>
              <a:defRPr sz="2025" b="0">
                <a:solidFill>
                  <a:srgbClr val="60646C"/>
                </a:solidFill>
                <a:latin typeface="Arial"/>
                <a:ea typeface="Arial"/>
                <a:cs typeface="Arial"/>
              </a:defRPr>
            </a:pPr>
            <a:r>
              <a:rPr sz="2025" b="0">
                <a:solidFill>
                  <a:srgbClr val="60646C"/>
                </a:solidFill>
                <a:latin typeface="Arial"/>
                <a:ea typeface="Arial"/>
                <a:cs typeface="Arial"/>
              </a:rPr>
              <a:t>Los CGPE plantean cambios en la base del ISR.</a:t>
            </a:r>
          </a:p>
        </p:txBody>
      </p:sp>
      <p:sp>
        <p:nvSpPr>
          <p:cNvPr id="4" name="">
            <a:extLst xmlns:a="http://schemas.openxmlformats.org/drawingml/2006/main">
              <a:ext uri="{FF2B5EF4-FFF2-40B4-BE49-F238E27FC236}">
                <a16:creationId xmlns:a16="http://schemas.microsoft.com/office/drawing/2014/main" id="{74AE3DEF-CC40-4D2A-8991-F1D9C66A437E}"/>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Una misma tasa puede producir un impuesto distinto si cambia la base.</a:t>
            </a:r>
          </a:p>
        </p:txBody>
      </p:sp>
      <p:sp>
        <p:nvSpPr>
          <p:cNvPr id="5" name="">
            <a:extLst xmlns:a="http://schemas.openxmlformats.org/drawingml/2006/main">
              <a:ext uri="{FF2B5EF4-FFF2-40B4-BE49-F238E27FC236}">
                <a16:creationId xmlns:a16="http://schemas.microsoft.com/office/drawing/2014/main" id="{E8CCEF62-200B-47CF-BAE3-63C0AB2BE4E3}"/>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08</a:t>
            </a:r>
          </a:p>
        </p:txBody>
      </p:sp>
      <p:sp>
        <p:nvSpPr>
          <p:cNvPr id="6" name="">
            <a:extLst xmlns:a="http://schemas.openxmlformats.org/drawingml/2006/main">
              <a:ext uri="{FF2B5EF4-FFF2-40B4-BE49-F238E27FC236}">
                <a16:creationId xmlns:a16="http://schemas.microsoft.com/office/drawing/2014/main" id="{11D9AD04-AAE1-45B8-9E18-A40850C810A7}"/>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16662821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F530E8-8089-4A5C-AE83-54B805D0853D}"/>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Los temas que pueden tocar tu operación</a:t>
            </a:r>
          </a:p>
        </p:txBody>
      </p:sp>
      <p:graphicFrame>
        <p:nvGraphicFramePr>
          <p:cNvPr id="7"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647700">
                <a:tc>
                  <a:txBody>
                    <a:bodyPr/>
                    <a:lstStyle/>
                    <a:p>
                      <a:r>
                        <a:rPr sz="1875" b="1">
                          <a:solidFill>
                            <a:srgbClr val="FFFFFF"/>
                          </a:solidFill>
                          <a:latin typeface="Arial"/>
                          <a:ea typeface="Arial"/>
                          <a:cs typeface="Arial"/>
                        </a:rPr>
                        <a:t>Situación de la empresa</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Tema a revisar</a:t>
                      </a:r>
                    </a:p>
                  </a:txBody>
                  <a:tcPr marL="152400" marR="133350" marT="76200" marB="76200" anchor="ctr">
                    <a:solidFill>
                      <a:srgbClr val="30343B"/>
                    </a:solidFill>
                  </a:tcPr>
                </a:tc>
              </a:tr>
              <a:tr h="647700">
                <a:tc>
                  <a:txBody>
                    <a:bodyPr/>
                    <a:lstStyle/>
                    <a:p>
                      <a:r>
                        <a:rPr sz="1950" b="0">
                          <a:solidFill>
                            <a:srgbClr val="20242B"/>
                          </a:solidFill>
                          <a:latin typeface="Arial"/>
                          <a:ea typeface="Arial"/>
                          <a:cs typeface="Arial"/>
                        </a:rPr>
                        <a:t>Margen reducido o deducciones altas</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Mecanismo de deducciones.</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Pérdidas de años anteriores</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Límite anual y plazo de aplicación.</a:t>
                      </a:r>
                    </a:p>
                  </a:txBody>
                  <a:tcPr marL="152400" marR="133350" marT="76200" marB="76200" anchor="ctr">
                    <a:solidFill>
                      <a:srgbClr val="FFFFFF"/>
                    </a:solidFill>
                  </a:tcPr>
                </a:tc>
              </a:tr>
              <a:tr h="647700">
                <a:tc>
                  <a:txBody>
                    <a:bodyPr/>
                    <a:lstStyle/>
                    <a:p>
                      <a:r>
                        <a:rPr sz="1950" b="0">
                          <a:solidFill>
                            <a:srgbClr val="20242B"/>
                          </a:solidFill>
                          <a:latin typeface="Arial"/>
                          <a:ea typeface="Arial"/>
                          <a:cs typeface="Arial"/>
                        </a:rPr>
                        <a:t>Financiamiento o pagos al extranjero</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Intereses y momento de deducción.</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Negocio pequeño o en crecimiento</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Elegibilidad y opciones de RESICO.</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C9F2D07-4288-4C39-9B95-06461306D9BF}"/>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La aplicación depende del texto final y de los datos de cada contribuyente.</a:t>
            </a:r>
          </a:p>
        </p:txBody>
      </p:sp>
      <p:sp>
        <p:nvSpPr>
          <p:cNvPr id="4" name="">
            <a:extLst xmlns:a="http://schemas.openxmlformats.org/drawingml/2006/main">
              <a:ext uri="{FF2B5EF4-FFF2-40B4-BE49-F238E27FC236}">
                <a16:creationId xmlns:a16="http://schemas.microsoft.com/office/drawing/2014/main" id="{6B9881AE-9F70-4EBE-BE0D-A4ADDFABE688}"/>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09</a:t>
            </a:r>
          </a:p>
        </p:txBody>
      </p:sp>
      <p:sp>
        <p:nvSpPr>
          <p:cNvPr id="5" name="">
            <a:extLst xmlns:a="http://schemas.openxmlformats.org/drawingml/2006/main">
              <a:ext uri="{FF2B5EF4-FFF2-40B4-BE49-F238E27FC236}">
                <a16:creationId xmlns:a16="http://schemas.microsoft.com/office/drawing/2014/main" id="{E7D7F2B7-74A2-4B68-9254-2CD971B84677}"/>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3721544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6C1200-48EA-45A0-8EAD-A2C3A5E4B9C4}"/>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Deducciones y base del ISR</a:t>
            </a:r>
          </a:p>
        </p:txBody>
      </p:sp>
      <p:sp>
        <p:nvSpPr>
          <p:cNvPr id="2" name="">
            <a:extLst xmlns:a="http://schemas.openxmlformats.org/drawingml/2006/main">
              <a:ext uri="{FF2B5EF4-FFF2-40B4-BE49-F238E27FC236}">
                <a16:creationId xmlns:a16="http://schemas.microsoft.com/office/drawing/2014/main" id="{D08B9B5A-A768-4A8D-9B50-659A8795B2CD}"/>
              </a:ext>
            </a:extLst>
          </p:cNvPr>
          <p:cNvSpPr>
            <a:spLocks xmlns:a="http://schemas.openxmlformats.org/drawingml/2006/main" noGrp="1"/>
          </p:cNvSpPr>
          <p:nvPr/>
        </p:nvSpPr>
        <p:spPr>
          <a:xfrm xmlns:a="http://schemas.openxmlformats.org/drawingml/2006/main">
            <a:off x="685800" y="18288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Propuesta descrita</a:t>
            </a:r>
          </a:p>
        </p:txBody>
      </p:sp>
      <p:sp>
        <p:nvSpPr>
          <p:cNvPr id="3" name="">
            <a:extLst xmlns:a="http://schemas.openxmlformats.org/drawingml/2006/main">
              <a:ext uri="{FF2B5EF4-FFF2-40B4-BE49-F238E27FC236}">
                <a16:creationId xmlns:a16="http://schemas.microsoft.com/office/drawing/2014/main" id="{D13FDB79-9127-4BF3-8112-34565651E31D}"/>
              </a:ext>
            </a:extLst>
          </p:cNvPr>
          <p:cNvSpPr>
            <a:spLocks xmlns:a="http://schemas.openxmlformats.org/drawingml/2006/main" noGrp="1"/>
          </p:cNvSpPr>
          <p:nvPr/>
        </p:nvSpPr>
        <p:spPr>
          <a:xfrm xmlns:a="http://schemas.openxmlformats.org/drawingml/2006/main">
            <a:off x="4095750" y="18288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Los CGPE mencionan un mecanismo con referencias de 96.67% y 99%.</a:t>
            </a:r>
          </a:p>
        </p:txBody>
      </p:sp>
      <p:sp>
        <p:nvSpPr>
          <p:cNvPr id="4" name="">
            <a:extLst xmlns:a="http://schemas.openxmlformats.org/drawingml/2006/main">
              <a:ext uri="{FF2B5EF4-FFF2-40B4-BE49-F238E27FC236}">
                <a16:creationId xmlns:a16="http://schemas.microsoft.com/office/drawing/2014/main" id="{25587A20-5219-484B-ADFF-1D8A42A8A84B}"/>
              </a:ext>
            </a:extLst>
          </p:cNvPr>
          <p:cNvSpPr>
            <a:spLocks xmlns:a="http://schemas.openxmlformats.org/drawingml/2006/main" noGrp="1"/>
          </p:cNvSpPr>
          <p:nvPr/>
        </p:nvSpPr>
        <p:spPr>
          <a:xfrm xmlns:a="http://schemas.openxmlformats.org/drawingml/2006/main">
            <a:off x="685800" y="30289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Punto por confirmar</a:t>
            </a:r>
          </a:p>
        </p:txBody>
      </p:sp>
      <p:sp>
        <p:nvSpPr>
          <p:cNvPr id="5" name="">
            <a:extLst xmlns:a="http://schemas.openxmlformats.org/drawingml/2006/main">
              <a:ext uri="{FF2B5EF4-FFF2-40B4-BE49-F238E27FC236}">
                <a16:creationId xmlns:a16="http://schemas.microsoft.com/office/drawing/2014/main" id="{C8AAC9D3-EB88-4CC5-8FEC-5C103A7E04DA}"/>
              </a:ext>
            </a:extLst>
          </p:cNvPr>
          <p:cNvSpPr>
            <a:spLocks xmlns:a="http://schemas.openxmlformats.org/drawingml/2006/main" noGrp="1"/>
          </p:cNvSpPr>
          <p:nvPr/>
        </p:nvSpPr>
        <p:spPr>
          <a:xfrm xmlns:a="http://schemas.openxmlformats.org/drawingml/2006/main">
            <a:off x="4095750" y="302895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Su fórmula, universo de contribuyentes y excepciones requieren el articulado.</a:t>
            </a:r>
          </a:p>
        </p:txBody>
      </p:sp>
      <p:sp>
        <p:nvSpPr>
          <p:cNvPr id="6" name="">
            <a:extLst xmlns:a="http://schemas.openxmlformats.org/drawingml/2006/main">
              <a:ext uri="{FF2B5EF4-FFF2-40B4-BE49-F238E27FC236}">
                <a16:creationId xmlns:a16="http://schemas.microsoft.com/office/drawing/2014/main" id="{94388559-E38D-48D6-9F21-E3FA76656B9E}"/>
              </a:ext>
            </a:extLst>
          </p:cNvPr>
          <p:cNvSpPr>
            <a:spLocks xmlns:a="http://schemas.openxmlformats.org/drawingml/2006/main" noGrp="1"/>
          </p:cNvSpPr>
          <p:nvPr/>
        </p:nvSpPr>
        <p:spPr>
          <a:xfrm xmlns:a="http://schemas.openxmlformats.org/drawingml/2006/main">
            <a:off x="685800" y="42291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Preparación útil</a:t>
            </a:r>
          </a:p>
        </p:txBody>
      </p:sp>
      <p:sp>
        <p:nvSpPr>
          <p:cNvPr id="7" name="">
            <a:extLst xmlns:a="http://schemas.openxmlformats.org/drawingml/2006/main">
              <a:ext uri="{FF2B5EF4-FFF2-40B4-BE49-F238E27FC236}">
                <a16:creationId xmlns:a16="http://schemas.microsoft.com/office/drawing/2014/main" id="{677F66E4-DE20-473F-908D-C79E1441ADC9}"/>
              </a:ext>
            </a:extLst>
          </p:cNvPr>
          <p:cNvSpPr>
            <a:spLocks xmlns:a="http://schemas.openxmlformats.org/drawingml/2006/main" noGrp="1"/>
          </p:cNvSpPr>
          <p:nvPr/>
        </p:nvSpPr>
        <p:spPr>
          <a:xfrm xmlns:a="http://schemas.openxmlformats.org/drawingml/2006/main">
            <a:off x="4095750" y="42291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Conciliar ingresos, deducciones y evidencia de las operaciones.</a:t>
            </a:r>
          </a:p>
        </p:txBody>
      </p:sp>
      <p:sp>
        <p:nvSpPr>
          <p:cNvPr id="8" name="">
            <a:extLst xmlns:a="http://schemas.openxmlformats.org/drawingml/2006/main">
              <a:ext uri="{FF2B5EF4-FFF2-40B4-BE49-F238E27FC236}">
                <a16:creationId xmlns:a16="http://schemas.microsoft.com/office/drawing/2014/main" id="{7B698BDC-02EB-4755-8B4E-C5D47A410F71}"/>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No convertir estos porcentajes en una regla universal ni en un “ISR mínimo”.</a:t>
            </a:r>
          </a:p>
        </p:txBody>
      </p:sp>
      <p:sp>
        <p:nvSpPr>
          <p:cNvPr id="9" name="">
            <a:extLst xmlns:a="http://schemas.openxmlformats.org/drawingml/2006/main">
              <a:ext uri="{FF2B5EF4-FFF2-40B4-BE49-F238E27FC236}">
                <a16:creationId xmlns:a16="http://schemas.microsoft.com/office/drawing/2014/main" id="{4B72E7F8-CA92-4615-B59E-31BCC07F9278}"/>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10</a:t>
            </a:r>
          </a:p>
        </p:txBody>
      </p:sp>
      <p:sp>
        <p:nvSpPr>
          <p:cNvPr id="10" name="">
            <a:extLst xmlns:a="http://schemas.openxmlformats.org/drawingml/2006/main">
              <a:ext uri="{FF2B5EF4-FFF2-40B4-BE49-F238E27FC236}">
                <a16:creationId xmlns:a16="http://schemas.microsoft.com/office/drawing/2014/main" id="{71FB50A0-5A6F-4A27-A4F4-B1445E888A6C}"/>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11029031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B6EBFB-AAA3-4CB0-99E2-23DACC5DA1B2}"/>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Pérdidas fiscales de años anteriores</a:t>
            </a:r>
          </a:p>
        </p:txBody>
      </p:sp>
      <p:graphicFrame>
        <p:nvGraphicFramePr>
          <p:cNvPr id="7"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1079500">
                <a:tc>
                  <a:txBody>
                    <a:bodyPr/>
                    <a:lstStyle/>
                    <a:p>
                      <a:r>
                        <a:rPr sz="1875" b="1">
                          <a:solidFill>
                            <a:srgbClr val="FFFFFF"/>
                          </a:solidFill>
                          <a:latin typeface="Arial"/>
                          <a:ea typeface="Arial"/>
                          <a:cs typeface="Arial"/>
                        </a:rPr>
                        <a:t>Referencia vigente consultada</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Propuesta descrita en CGPE</a:t>
                      </a:r>
                    </a:p>
                  </a:txBody>
                  <a:tcPr marL="152400" marR="133350" marT="76200" marB="76200" anchor="ctr">
                    <a:solidFill>
                      <a:srgbClr val="30343B"/>
                    </a:solidFill>
                  </a:tcPr>
                </a:tc>
              </a:tr>
              <a:tr h="1079500">
                <a:tc>
                  <a:txBody>
                    <a:bodyPr/>
                    <a:lstStyle/>
                    <a:p>
                      <a:r>
                        <a:rPr sz="1950" b="0">
                          <a:solidFill>
                            <a:srgbClr val="20242B"/>
                          </a:solidFill>
                          <a:latin typeface="Arial"/>
                          <a:ea typeface="Arial"/>
                          <a:cs typeface="Arial"/>
                        </a:rPr>
                        <a:t>Plazo de diez ejercicios siguientes</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Ampliación del plazo a veinte años.</a:t>
                      </a:r>
                    </a:p>
                  </a:txBody>
                  <a:tcPr marL="152400" marR="133350" marT="76200" marB="76200" anchor="ctr">
                    <a:solidFill>
                      <a:srgbClr val="F6F6F6"/>
                    </a:solidFill>
                  </a:tcPr>
                </a:tc>
              </a:tr>
              <a:tr h="1079500">
                <a:tc>
                  <a:txBody>
                    <a:bodyPr/>
                    <a:lstStyle/>
                    <a:p>
                      <a:r>
                        <a:rPr sz="1950" b="0">
                          <a:solidFill>
                            <a:srgbClr val="20242B"/>
                          </a:solidFill>
                          <a:latin typeface="Arial"/>
                          <a:ea typeface="Arial"/>
                          <a:cs typeface="Arial"/>
                        </a:rPr>
                        <a:t>Aplicación contra utilidad fiscal</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Tope anual de 50% de la utilidad fiscal.</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18A9C6C-F865-468E-9EEE-5FCDA4AE9589}"/>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El saldo pendiente y el calendario pueden cambiar la necesidad de efectivo.</a:t>
            </a:r>
          </a:p>
        </p:txBody>
      </p:sp>
      <p:sp>
        <p:nvSpPr>
          <p:cNvPr id="4" name="">
            <a:extLst xmlns:a="http://schemas.openxmlformats.org/drawingml/2006/main">
              <a:ext uri="{FF2B5EF4-FFF2-40B4-BE49-F238E27FC236}">
                <a16:creationId xmlns:a16="http://schemas.microsoft.com/office/drawing/2014/main" id="{6AF6B44B-2FD5-41F8-B252-1FF633C89FEA}"/>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11</a:t>
            </a:r>
          </a:p>
        </p:txBody>
      </p:sp>
      <p:sp>
        <p:nvSpPr>
          <p:cNvPr id="5" name="">
            <a:extLst xmlns:a="http://schemas.openxmlformats.org/drawingml/2006/main">
              <a:ext uri="{FF2B5EF4-FFF2-40B4-BE49-F238E27FC236}">
                <a16:creationId xmlns:a16="http://schemas.microsoft.com/office/drawing/2014/main" id="{6253CF1C-0A66-426B-9478-BE292935E91D}"/>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13504517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931ED7-4CFB-4F7C-B834-AA0843D04951}"/>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Caso 1 · Una empresa con pérdidas pendientes</a:t>
            </a:r>
          </a:p>
        </p:txBody>
      </p:sp>
      <p:sp>
        <p:nvSpPr>
          <p:cNvPr id="2" name="">
            <a:extLst xmlns:a="http://schemas.openxmlformats.org/drawingml/2006/main">
              <a:ext uri="{FF2B5EF4-FFF2-40B4-BE49-F238E27FC236}">
                <a16:creationId xmlns:a16="http://schemas.microsoft.com/office/drawing/2014/main" id="{31AB12C0-2E43-4A8C-BF42-C8F210C76137}"/>
              </a:ext>
            </a:extLst>
          </p:cNvPr>
          <p:cNvSpPr>
            <a:spLocks xmlns:a="http://schemas.openxmlformats.org/drawingml/2006/main" noGrp="1"/>
          </p:cNvSpPr>
          <p:nvPr/>
        </p:nvSpPr>
        <p:spPr>
          <a:xfrm xmlns:a="http://schemas.openxmlformats.org/drawingml/2006/main">
            <a:off x="685800" y="18288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Utilidad fiscal antes de pérdidas</a:t>
            </a:r>
          </a:p>
        </p:txBody>
      </p:sp>
      <p:sp>
        <p:nvSpPr>
          <p:cNvPr id="3" name="">
            <a:extLst xmlns:a="http://schemas.openxmlformats.org/drawingml/2006/main">
              <a:ext uri="{FF2B5EF4-FFF2-40B4-BE49-F238E27FC236}">
                <a16:creationId xmlns:a16="http://schemas.microsoft.com/office/drawing/2014/main" id="{69E5F90D-F8A1-4575-B903-9072570FFCB1}"/>
              </a:ext>
            </a:extLst>
          </p:cNvPr>
          <p:cNvSpPr>
            <a:spLocks xmlns:a="http://schemas.openxmlformats.org/drawingml/2006/main" noGrp="1"/>
          </p:cNvSpPr>
          <p:nvPr/>
        </p:nvSpPr>
        <p:spPr>
          <a:xfrm xmlns:a="http://schemas.openxmlformats.org/drawingml/2006/main">
            <a:off x="4095750" y="1828800"/>
            <a:ext cx="723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$1,000,000</a:t>
            </a:r>
          </a:p>
        </p:txBody>
      </p:sp>
      <p:sp>
        <p:nvSpPr>
          <p:cNvPr id="4" name="">
            <a:extLst xmlns:a="http://schemas.openxmlformats.org/drawingml/2006/main">
              <a:ext uri="{FF2B5EF4-FFF2-40B4-BE49-F238E27FC236}">
                <a16:creationId xmlns:a16="http://schemas.microsoft.com/office/drawing/2014/main" id="{EE305482-7492-421A-8018-813A4DBF41A9}"/>
              </a:ext>
            </a:extLst>
          </p:cNvPr>
          <p:cNvSpPr>
            <a:spLocks xmlns:a="http://schemas.openxmlformats.org/drawingml/2006/main" noGrp="1"/>
          </p:cNvSpPr>
          <p:nvPr/>
        </p:nvSpPr>
        <p:spPr>
          <a:xfrm xmlns:a="http://schemas.openxmlformats.org/drawingml/2006/main">
            <a:off x="685800" y="2752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Pérdidas pendientes utilizables</a:t>
            </a:r>
          </a:p>
        </p:txBody>
      </p:sp>
      <p:sp>
        <p:nvSpPr>
          <p:cNvPr id="5" name="">
            <a:extLst xmlns:a="http://schemas.openxmlformats.org/drawingml/2006/main">
              <a:ext uri="{FF2B5EF4-FFF2-40B4-BE49-F238E27FC236}">
                <a16:creationId xmlns:a16="http://schemas.microsoft.com/office/drawing/2014/main" id="{FEBC1BD8-315C-4445-9C66-FCD6BE97020C}"/>
              </a:ext>
            </a:extLst>
          </p:cNvPr>
          <p:cNvSpPr>
            <a:spLocks xmlns:a="http://schemas.openxmlformats.org/drawingml/2006/main" noGrp="1"/>
          </p:cNvSpPr>
          <p:nvPr/>
        </p:nvSpPr>
        <p:spPr>
          <a:xfrm xmlns:a="http://schemas.openxmlformats.org/drawingml/2006/main">
            <a:off x="4095750" y="2752725"/>
            <a:ext cx="723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$1,000,000</a:t>
            </a:r>
          </a:p>
        </p:txBody>
      </p:sp>
      <p:sp>
        <p:nvSpPr>
          <p:cNvPr id="6" name="">
            <a:extLst xmlns:a="http://schemas.openxmlformats.org/drawingml/2006/main">
              <a:ext uri="{FF2B5EF4-FFF2-40B4-BE49-F238E27FC236}">
                <a16:creationId xmlns:a16="http://schemas.microsoft.com/office/drawing/2014/main" id="{AAEA25DB-7DD7-470A-8302-81BA6520B85E}"/>
              </a:ext>
            </a:extLst>
          </p:cNvPr>
          <p:cNvSpPr>
            <a:spLocks xmlns:a="http://schemas.openxmlformats.org/drawingml/2006/main" noGrp="1"/>
          </p:cNvSpPr>
          <p:nvPr/>
        </p:nvSpPr>
        <p:spPr>
          <a:xfrm xmlns:a="http://schemas.openxmlformats.org/drawingml/2006/main">
            <a:off x="685800" y="36766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Tasa usada en el ejercicio</a:t>
            </a:r>
          </a:p>
        </p:txBody>
      </p:sp>
      <p:sp>
        <p:nvSpPr>
          <p:cNvPr id="7" name="">
            <a:extLst xmlns:a="http://schemas.openxmlformats.org/drawingml/2006/main">
              <a:ext uri="{FF2B5EF4-FFF2-40B4-BE49-F238E27FC236}">
                <a16:creationId xmlns:a16="http://schemas.microsoft.com/office/drawing/2014/main" id="{09D62D23-E14B-465F-A1E3-14D948D2304A}"/>
              </a:ext>
            </a:extLst>
          </p:cNvPr>
          <p:cNvSpPr>
            <a:spLocks xmlns:a="http://schemas.openxmlformats.org/drawingml/2006/main" noGrp="1"/>
          </p:cNvSpPr>
          <p:nvPr/>
        </p:nvSpPr>
        <p:spPr>
          <a:xfrm xmlns:a="http://schemas.openxmlformats.org/drawingml/2006/main">
            <a:off x="4095750" y="3676650"/>
            <a:ext cx="723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30% para una persona moral del Título II</a:t>
            </a:r>
          </a:p>
        </p:txBody>
      </p:sp>
      <p:sp>
        <p:nvSpPr>
          <p:cNvPr id="8" name="">
            <a:extLst xmlns:a="http://schemas.openxmlformats.org/drawingml/2006/main">
              <a:ext uri="{FF2B5EF4-FFF2-40B4-BE49-F238E27FC236}">
                <a16:creationId xmlns:a16="http://schemas.microsoft.com/office/drawing/2014/main" id="{C3629B96-B1E0-415A-8602-48D5E5DAAD7F}"/>
              </a:ext>
            </a:extLst>
          </p:cNvPr>
          <p:cNvSpPr>
            <a:spLocks xmlns:a="http://schemas.openxmlformats.org/drawingml/2006/main" noGrp="1"/>
          </p:cNvSpPr>
          <p:nvPr/>
        </p:nvSpPr>
        <p:spPr>
          <a:xfrm xmlns:a="http://schemas.openxmlformats.org/drawingml/2006/main">
            <a:off x="685800" y="48672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0242B"/>
                </a:solidFill>
                <a:latin typeface="Arial"/>
                <a:ea typeface="Arial"/>
                <a:cs typeface="Arial"/>
              </a:defRPr>
            </a:pPr>
            <a:r>
              <a:rPr sz="2175" b="1">
                <a:solidFill>
                  <a:srgbClr val="20242B"/>
                </a:solidFill>
                <a:latin typeface="Arial"/>
                <a:ea typeface="Arial"/>
                <a:cs typeface="Arial"/>
              </a:rPr>
              <a:t>¿Cuánto ISR resultaría si la pérdida aplicable se limita a 50% de la utilidad?</a:t>
            </a:r>
          </a:p>
        </p:txBody>
      </p:sp>
      <p:sp>
        <p:nvSpPr>
          <p:cNvPr id="9" name="">
            <a:extLst xmlns:a="http://schemas.openxmlformats.org/drawingml/2006/main">
              <a:ext uri="{FF2B5EF4-FFF2-40B4-BE49-F238E27FC236}">
                <a16:creationId xmlns:a16="http://schemas.microsoft.com/office/drawing/2014/main" id="{0560E36C-6C7B-498A-B9B3-C743EB4E44B5}"/>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Supuesto aislado: sin PTU adicional, actualizaciones, pagos provisionales ni otros límites.</a:t>
            </a:r>
          </a:p>
        </p:txBody>
      </p:sp>
      <p:sp>
        <p:nvSpPr>
          <p:cNvPr id="10" name="">
            <a:extLst xmlns:a="http://schemas.openxmlformats.org/drawingml/2006/main">
              <a:ext uri="{FF2B5EF4-FFF2-40B4-BE49-F238E27FC236}">
                <a16:creationId xmlns:a16="http://schemas.microsoft.com/office/drawing/2014/main" id="{B4D71882-46A0-4428-A3C7-8E2C220F07EF}"/>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12</a:t>
            </a:r>
          </a:p>
        </p:txBody>
      </p:sp>
    </p:spTree>
    <p:extLst>
      <p:ext uri="{BB962C8B-B14F-4D97-AF65-F5344CB8AC3E}">
        <p14:creationId xmlns:p14="http://schemas.microsoft.com/office/powerpoint/2010/main" val="19960342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0BD92C-AB01-4B5D-83A3-52987ACBB4BA}"/>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Caso 1 · El efecto está en el momento del pago</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4953000"/>
                <a:gridCol w="2933700"/>
                <a:gridCol w="2933700"/>
              </a:tblGrid>
              <a:tr h="647700">
                <a:tc>
                  <a:txBody>
                    <a:bodyPr/>
                    <a:lstStyle/>
                    <a:p>
                      <a:r>
                        <a:rPr sz="1875" b="1">
                          <a:solidFill>
                            <a:srgbClr val="FFFFFF"/>
                          </a:solidFill>
                          <a:latin typeface="Arial"/>
                          <a:ea typeface="Arial"/>
                          <a:cs typeface="Arial"/>
                        </a:rPr>
                        <a:t>Concepto</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Sin tope del caso</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Con tope supuesto</a:t>
                      </a:r>
                    </a:p>
                  </a:txBody>
                  <a:tcPr marL="152400" marR="133350" marT="76200" marB="76200" anchor="ctr">
                    <a:solidFill>
                      <a:srgbClr val="30343B"/>
                    </a:solidFill>
                  </a:tcPr>
                </a:tc>
              </a:tr>
              <a:tr h="647700">
                <a:tc>
                  <a:txBody>
                    <a:bodyPr/>
                    <a:lstStyle/>
                    <a:p>
                      <a:r>
                        <a:rPr sz="1950" b="0">
                          <a:solidFill>
                            <a:srgbClr val="20242B"/>
                          </a:solidFill>
                          <a:latin typeface="Arial"/>
                          <a:ea typeface="Arial"/>
                          <a:cs typeface="Arial"/>
                        </a:rPr>
                        <a:t>Pérdida aplicada</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$1,000,000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$500,000</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Resultado fiscal</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$0</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$500,000</a:t>
                      </a:r>
                    </a:p>
                  </a:txBody>
                  <a:tcPr marL="152400" marR="133350" marT="76200" marB="76200" anchor="ctr">
                    <a:solidFill>
                      <a:srgbClr val="FFFFFF"/>
                    </a:solidFill>
                  </a:tcPr>
                </a:tc>
              </a:tr>
              <a:tr h="647700">
                <a:tc>
                  <a:txBody>
                    <a:bodyPr/>
                    <a:lstStyle/>
                    <a:p>
                      <a:r>
                        <a:rPr sz="1950" b="0">
                          <a:solidFill>
                            <a:srgbClr val="20242B"/>
                          </a:solidFill>
                          <a:latin typeface="Arial"/>
                          <a:ea typeface="Arial"/>
                          <a:cs typeface="Arial"/>
                        </a:rPr>
                        <a:t>ISR del ejercicio al 30%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$150,000</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Pérdida pendiente</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$0</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$500,000</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ED1B769-F22F-4F51-804D-AA8B66DCC55A}"/>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Diferencia de ISR del ejercicio: $150,000. No equivale necesariamente al saldo a pagar.</a:t>
            </a:r>
          </a:p>
        </p:txBody>
      </p:sp>
      <p:sp>
        <p:nvSpPr>
          <p:cNvPr id="4" name="">
            <a:extLst xmlns:a="http://schemas.openxmlformats.org/drawingml/2006/main">
              <a:ext uri="{FF2B5EF4-FFF2-40B4-BE49-F238E27FC236}">
                <a16:creationId xmlns:a16="http://schemas.microsoft.com/office/drawing/2014/main" id="{9EAC9F6A-9FBD-4A86-BF6C-5C72345A0485}"/>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13</a:t>
            </a:r>
          </a:p>
        </p:txBody>
      </p:sp>
    </p:spTree>
    <p:extLst>
      <p:ext uri="{BB962C8B-B14F-4D97-AF65-F5344CB8AC3E}">
        <p14:creationId xmlns:p14="http://schemas.microsoft.com/office/powerpoint/2010/main" val="10741657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1EF50A-BC17-4F7F-8B3F-150FEC245022}"/>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Financiamiento y pagos al extranjero</a:t>
            </a:r>
          </a:p>
        </p:txBody>
      </p:sp>
      <p:sp>
        <p:nvSpPr>
          <p:cNvPr id="2" name="">
            <a:extLst xmlns:a="http://schemas.openxmlformats.org/drawingml/2006/main">
              <a:ext uri="{FF2B5EF4-FFF2-40B4-BE49-F238E27FC236}">
                <a16:creationId xmlns:a16="http://schemas.microsoft.com/office/drawing/2014/main" id="{C2EAFD75-D717-4254-AD27-513F87C3CF32}"/>
              </a:ext>
            </a:extLst>
          </p:cNvPr>
          <p:cNvSpPr>
            <a:spLocks xmlns:a="http://schemas.openxmlformats.org/drawingml/2006/main" noGrp="1"/>
          </p:cNvSpPr>
          <p:nvPr/>
        </p:nvSpPr>
        <p:spPr>
          <a:xfrm xmlns:a="http://schemas.openxmlformats.org/drawingml/2006/main">
            <a:off x="685800" y="18288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Intereses netos</a:t>
            </a:r>
          </a:p>
        </p:txBody>
      </p:sp>
      <p:sp>
        <p:nvSpPr>
          <p:cNvPr id="3" name="">
            <a:extLst xmlns:a="http://schemas.openxmlformats.org/drawingml/2006/main">
              <a:ext uri="{FF2B5EF4-FFF2-40B4-BE49-F238E27FC236}">
                <a16:creationId xmlns:a16="http://schemas.microsoft.com/office/drawing/2014/main" id="{C40915E8-4525-42E3-8382-93CC3D572740}"/>
              </a:ext>
            </a:extLst>
          </p:cNvPr>
          <p:cNvSpPr>
            <a:spLocks xmlns:a="http://schemas.openxmlformats.org/drawingml/2006/main" noGrp="1"/>
          </p:cNvSpPr>
          <p:nvPr/>
        </p:nvSpPr>
        <p:spPr>
          <a:xfrm xmlns:a="http://schemas.openxmlformats.org/drawingml/2006/main">
            <a:off x="4095750" y="18288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Los CGPE proponen pasar de 30% a 20% de la utilidad fiscal ajustada.</a:t>
            </a:r>
          </a:p>
        </p:txBody>
      </p:sp>
      <p:sp>
        <p:nvSpPr>
          <p:cNvPr id="4" name="">
            <a:extLst xmlns:a="http://schemas.openxmlformats.org/drawingml/2006/main">
              <a:ext uri="{FF2B5EF4-FFF2-40B4-BE49-F238E27FC236}">
                <a16:creationId xmlns:a16="http://schemas.microsoft.com/office/drawing/2014/main" id="{72F36499-A6A4-4ABF-AA5B-756B6A88B8EF}"/>
              </a:ext>
            </a:extLst>
          </p:cNvPr>
          <p:cNvSpPr>
            <a:spLocks xmlns:a="http://schemas.openxmlformats.org/drawingml/2006/main" noGrp="1"/>
          </p:cNvSpPr>
          <p:nvPr/>
        </p:nvSpPr>
        <p:spPr>
          <a:xfrm xmlns:a="http://schemas.openxmlformats.org/drawingml/2006/main">
            <a:off x="685800" y="30289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Servicios del extranjero</a:t>
            </a:r>
          </a:p>
        </p:txBody>
      </p:sp>
      <p:sp>
        <p:nvSpPr>
          <p:cNvPr id="5" name="">
            <a:extLst xmlns:a="http://schemas.openxmlformats.org/drawingml/2006/main">
              <a:ext uri="{FF2B5EF4-FFF2-40B4-BE49-F238E27FC236}">
                <a16:creationId xmlns:a16="http://schemas.microsoft.com/office/drawing/2014/main" id="{DF359C38-563A-4423-ACAB-4B28A19601C7}"/>
              </a:ext>
            </a:extLst>
          </p:cNvPr>
          <p:cNvSpPr>
            <a:spLocks xmlns:a="http://schemas.openxmlformats.org/drawingml/2006/main" noGrp="1"/>
          </p:cNvSpPr>
          <p:nvPr/>
        </p:nvSpPr>
        <p:spPr>
          <a:xfrm xmlns:a="http://schemas.openxmlformats.org/drawingml/2006/main">
            <a:off x="4095750" y="302895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La propuesta vincula la deducción con prestación efectiva y pago.</a:t>
            </a:r>
          </a:p>
        </p:txBody>
      </p:sp>
      <p:sp>
        <p:nvSpPr>
          <p:cNvPr id="6" name="">
            <a:extLst xmlns:a="http://schemas.openxmlformats.org/drawingml/2006/main">
              <a:ext uri="{FF2B5EF4-FFF2-40B4-BE49-F238E27FC236}">
                <a16:creationId xmlns:a16="http://schemas.microsoft.com/office/drawing/2014/main" id="{FF1369C6-2781-46DA-AEA6-1FEF3D1ED091}"/>
              </a:ext>
            </a:extLst>
          </p:cNvPr>
          <p:cNvSpPr>
            <a:spLocks xmlns:a="http://schemas.openxmlformats.org/drawingml/2006/main" noGrp="1"/>
          </p:cNvSpPr>
          <p:nvPr/>
        </p:nvSpPr>
        <p:spPr>
          <a:xfrm xmlns:a="http://schemas.openxmlformats.org/drawingml/2006/main">
            <a:off x="685800" y="42291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Revisión necesaria</a:t>
            </a:r>
          </a:p>
        </p:txBody>
      </p:sp>
      <p:sp>
        <p:nvSpPr>
          <p:cNvPr id="7" name="">
            <a:extLst xmlns:a="http://schemas.openxmlformats.org/drawingml/2006/main">
              <a:ext uri="{FF2B5EF4-FFF2-40B4-BE49-F238E27FC236}">
                <a16:creationId xmlns:a16="http://schemas.microsoft.com/office/drawing/2014/main" id="{7D6F7B4C-48A6-4057-B8FD-4EFC09A6052C}"/>
              </a:ext>
            </a:extLst>
          </p:cNvPr>
          <p:cNvSpPr>
            <a:spLocks xmlns:a="http://schemas.openxmlformats.org/drawingml/2006/main" noGrp="1"/>
          </p:cNvSpPr>
          <p:nvPr/>
        </p:nvSpPr>
        <p:spPr>
          <a:xfrm xmlns:a="http://schemas.openxmlformats.org/drawingml/2006/main">
            <a:off x="4095750" y="42291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Contrato, calendario, umbrales y excepciones del régimen aplicable.</a:t>
            </a:r>
          </a:p>
        </p:txBody>
      </p:sp>
      <p:sp>
        <p:nvSpPr>
          <p:cNvPr id="8" name="">
            <a:extLst xmlns:a="http://schemas.openxmlformats.org/drawingml/2006/main">
              <a:ext uri="{FF2B5EF4-FFF2-40B4-BE49-F238E27FC236}">
                <a16:creationId xmlns:a16="http://schemas.microsoft.com/office/drawing/2014/main" id="{DDD7578C-CC6D-4ABD-8338-21C54729E351}"/>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El 20% descrito no se aplica automáticamente a cualquier crédito.</a:t>
            </a:r>
          </a:p>
        </p:txBody>
      </p:sp>
      <p:sp>
        <p:nvSpPr>
          <p:cNvPr id="9" name="">
            <a:extLst xmlns:a="http://schemas.openxmlformats.org/drawingml/2006/main">
              <a:ext uri="{FF2B5EF4-FFF2-40B4-BE49-F238E27FC236}">
                <a16:creationId xmlns:a16="http://schemas.microsoft.com/office/drawing/2014/main" id="{DBB35F87-8FD6-4161-B21D-5E8A96FD1BA8}"/>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14</a:t>
            </a:r>
          </a:p>
        </p:txBody>
      </p:sp>
      <p:sp>
        <p:nvSpPr>
          <p:cNvPr id="10" name="">
            <a:extLst xmlns:a="http://schemas.openxmlformats.org/drawingml/2006/main">
              <a:ext uri="{FF2B5EF4-FFF2-40B4-BE49-F238E27FC236}">
                <a16:creationId xmlns:a16="http://schemas.microsoft.com/office/drawing/2014/main" id="{9E135347-C435-4A7E-8066-830922ADE25F}"/>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16601873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AB2D03-5678-41FB-8AF7-520E92A1DE22}"/>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RESICO · Posibles opciones para negocios pequeños</a:t>
            </a:r>
          </a:p>
        </p:txBody>
      </p:sp>
      <p:graphicFrame>
        <p:nvGraphicFramePr>
          <p:cNvPr id="7"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4953000"/>
                <a:gridCol w="2933700"/>
                <a:gridCol w="2933700"/>
              </a:tblGrid>
              <a:tr h="1079500">
                <a:tc>
                  <a:txBody>
                    <a:bodyPr/>
                    <a:lstStyle/>
                    <a:p>
                      <a:r>
                        <a:rPr sz="1875" b="1">
                          <a:solidFill>
                            <a:srgbClr val="FFFFFF"/>
                          </a:solidFill>
                          <a:latin typeface="Arial"/>
                          <a:ea typeface="Arial"/>
                          <a:cs typeface="Arial"/>
                        </a:rPr>
                        <a:t>Umbral de ingresos anuales</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Referencia descrita</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Propuesta</a:t>
                      </a:r>
                    </a:p>
                  </a:txBody>
                  <a:tcPr marL="152400" marR="133350" marT="76200" marB="76200" anchor="ctr">
                    <a:solidFill>
                      <a:srgbClr val="30343B"/>
                    </a:solidFill>
                  </a:tcPr>
                </a:tc>
              </a:tr>
              <a:tr h="1079500">
                <a:tc>
                  <a:txBody>
                    <a:bodyPr/>
                    <a:lstStyle/>
                    <a:p>
                      <a:r>
                        <a:rPr sz="1950" b="0">
                          <a:solidFill>
                            <a:srgbClr val="20242B"/>
                          </a:solidFill>
                          <a:latin typeface="Arial"/>
                          <a:ea typeface="Arial"/>
                          <a:cs typeface="Arial"/>
                        </a:rPr>
                        <a:t>Personas físicas</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$3.5 millones</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$5 millones</a:t>
                      </a:r>
                    </a:p>
                  </a:txBody>
                  <a:tcPr marL="152400" marR="133350" marT="76200" marB="76200" anchor="ctr">
                    <a:solidFill>
                      <a:srgbClr val="F6F6F6"/>
                    </a:solidFill>
                  </a:tcPr>
                </a:tc>
              </a:tr>
              <a:tr h="1079500">
                <a:tc>
                  <a:txBody>
                    <a:bodyPr/>
                    <a:lstStyle/>
                    <a:p>
                      <a:r>
                        <a:rPr sz="1950" b="0">
                          <a:solidFill>
                            <a:srgbClr val="20242B"/>
                          </a:solidFill>
                          <a:latin typeface="Arial"/>
                          <a:ea typeface="Arial"/>
                          <a:cs typeface="Arial"/>
                        </a:rPr>
                        <a:t>Personas morales</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$35 millones</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$50 millones</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78F6C6B-1114-4947-B735-C8C1CC6C5CE3}"/>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Los CGPE también proponen que el régimen sea opcional para personas morales.</a:t>
            </a:r>
          </a:p>
        </p:txBody>
      </p:sp>
      <p:sp>
        <p:nvSpPr>
          <p:cNvPr id="4" name="">
            <a:extLst xmlns:a="http://schemas.openxmlformats.org/drawingml/2006/main">
              <a:ext uri="{FF2B5EF4-FFF2-40B4-BE49-F238E27FC236}">
                <a16:creationId xmlns:a16="http://schemas.microsoft.com/office/drawing/2014/main" id="{CC450C48-AD23-4DE9-A43D-E0C84218DC59}"/>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15</a:t>
            </a:r>
          </a:p>
        </p:txBody>
      </p:sp>
      <p:sp>
        <p:nvSpPr>
          <p:cNvPr id="5" name="">
            <a:extLst xmlns:a="http://schemas.openxmlformats.org/drawingml/2006/main">
              <a:ext uri="{FF2B5EF4-FFF2-40B4-BE49-F238E27FC236}">
                <a16:creationId xmlns:a16="http://schemas.microsoft.com/office/drawing/2014/main" id="{B951CC80-BBC2-4746-A59A-2341BEB0F564}"/>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14339614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4572AF-9AC3-49A1-A799-51C4B7E05E30}"/>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Una propuesta de IVA que exige comparar</a:t>
            </a:r>
          </a:p>
        </p:txBody>
      </p:sp>
      <p:sp>
        <p:nvSpPr>
          <p:cNvPr id="2" name="">
            <a:extLst xmlns:a="http://schemas.openxmlformats.org/drawingml/2006/main">
              <a:ext uri="{FF2B5EF4-FFF2-40B4-BE49-F238E27FC236}">
                <a16:creationId xmlns:a16="http://schemas.microsoft.com/office/drawing/2014/main" id="{AAA5D10A-1F33-4CE1-96DA-D6972EAAEFB5}"/>
              </a:ext>
            </a:extLst>
          </p:cNvPr>
          <p:cNvSpPr>
            <a:spLocks xmlns:a="http://schemas.openxmlformats.org/drawingml/2006/main" noGrp="1"/>
          </p:cNvSpPr>
          <p:nvPr/>
        </p:nvSpPr>
        <p:spPr>
          <a:xfrm xmlns:a="http://schemas.openxmlformats.org/drawingml/2006/main">
            <a:off x="685800" y="18288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Opción descrita en CGPE</a:t>
            </a:r>
          </a:p>
        </p:txBody>
      </p:sp>
      <p:sp>
        <p:nvSpPr>
          <p:cNvPr id="3" name="">
            <a:extLst xmlns:a="http://schemas.openxmlformats.org/drawingml/2006/main">
              <a:ext uri="{FF2B5EF4-FFF2-40B4-BE49-F238E27FC236}">
                <a16:creationId xmlns:a16="http://schemas.microsoft.com/office/drawing/2014/main" id="{263382B7-BE3C-492E-BD0F-D5B22E64648F}"/>
              </a:ext>
            </a:extLst>
          </p:cNvPr>
          <p:cNvSpPr>
            <a:spLocks xmlns:a="http://schemas.openxmlformats.org/drawingml/2006/main" noGrp="1"/>
          </p:cNvSpPr>
          <p:nvPr/>
        </p:nvSpPr>
        <p:spPr>
          <a:xfrm xmlns:a="http://schemas.openxmlformats.org/drawingml/2006/main">
            <a:off x="4095750" y="18288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7% sobre actividades gravadas y efectivamente cobradas de contribuyentes del régimen.</a:t>
            </a:r>
          </a:p>
        </p:txBody>
      </p:sp>
      <p:sp>
        <p:nvSpPr>
          <p:cNvPr id="4" name="">
            <a:extLst xmlns:a="http://schemas.openxmlformats.org/drawingml/2006/main">
              <a:ext uri="{FF2B5EF4-FFF2-40B4-BE49-F238E27FC236}">
                <a16:creationId xmlns:a16="http://schemas.microsoft.com/office/drawing/2014/main" id="{D6E3D110-46AF-4208-898C-6E075EE9826B}"/>
              </a:ext>
            </a:extLst>
          </p:cNvPr>
          <p:cNvSpPr>
            <a:spLocks xmlns:a="http://schemas.openxmlformats.org/drawingml/2006/main" noGrp="1"/>
          </p:cNvSpPr>
          <p:nvPr/>
        </p:nvSpPr>
        <p:spPr>
          <a:xfrm xmlns:a="http://schemas.openxmlformats.org/drawingml/2006/main">
            <a:off x="685800" y="30289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Condición relevante</a:t>
            </a:r>
          </a:p>
        </p:txBody>
      </p:sp>
      <p:sp>
        <p:nvSpPr>
          <p:cNvPr id="5" name="">
            <a:extLst xmlns:a="http://schemas.openxmlformats.org/drawingml/2006/main">
              <a:ext uri="{FF2B5EF4-FFF2-40B4-BE49-F238E27FC236}">
                <a16:creationId xmlns:a16="http://schemas.microsoft.com/office/drawing/2014/main" id="{968CF1A3-36FF-483C-9E43-8157DE02D086}"/>
              </a:ext>
            </a:extLst>
          </p:cNvPr>
          <p:cNvSpPr>
            <a:spLocks xmlns:a="http://schemas.openxmlformats.org/drawingml/2006/main" noGrp="1"/>
          </p:cNvSpPr>
          <p:nvPr/>
        </p:nvSpPr>
        <p:spPr>
          <a:xfrm xmlns:a="http://schemas.openxmlformats.org/drawingml/2006/main">
            <a:off x="4095750" y="302895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Sin acreditar el IVA de compras o inversiones.</a:t>
            </a:r>
          </a:p>
        </p:txBody>
      </p:sp>
      <p:sp>
        <p:nvSpPr>
          <p:cNvPr id="6" name="">
            <a:extLst xmlns:a="http://schemas.openxmlformats.org/drawingml/2006/main">
              <a:ext uri="{FF2B5EF4-FFF2-40B4-BE49-F238E27FC236}">
                <a16:creationId xmlns:a16="http://schemas.microsoft.com/office/drawing/2014/main" id="{42F8257C-1741-454E-8948-87B2902D4517}"/>
              </a:ext>
            </a:extLst>
          </p:cNvPr>
          <p:cNvSpPr>
            <a:spLocks xmlns:a="http://schemas.openxmlformats.org/drawingml/2006/main" noGrp="1"/>
          </p:cNvSpPr>
          <p:nvPr/>
        </p:nvSpPr>
        <p:spPr>
          <a:xfrm xmlns:a="http://schemas.openxmlformats.org/drawingml/2006/main">
            <a:off x="685800" y="42291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Pregunta de negocio</a:t>
            </a:r>
          </a:p>
        </p:txBody>
      </p:sp>
      <p:sp>
        <p:nvSpPr>
          <p:cNvPr id="7" name="">
            <a:extLst xmlns:a="http://schemas.openxmlformats.org/drawingml/2006/main">
              <a:ext uri="{FF2B5EF4-FFF2-40B4-BE49-F238E27FC236}">
                <a16:creationId xmlns:a16="http://schemas.microsoft.com/office/drawing/2014/main" id="{A6B1FDC7-DD02-4810-9759-F9786898F3C7}"/>
              </a:ext>
            </a:extLst>
          </p:cNvPr>
          <p:cNvSpPr>
            <a:spLocks xmlns:a="http://schemas.openxmlformats.org/drawingml/2006/main" noGrp="1"/>
          </p:cNvSpPr>
          <p:nvPr/>
        </p:nvSpPr>
        <p:spPr>
          <a:xfrm xmlns:a="http://schemas.openxmlformats.org/drawingml/2006/main">
            <a:off x="4095750" y="42291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¿Cuánto IVA acreditable utiliza realmente tu empresa?</a:t>
            </a:r>
          </a:p>
        </p:txBody>
      </p:sp>
      <p:sp>
        <p:nvSpPr>
          <p:cNvPr id="8" name="">
            <a:extLst xmlns:a="http://schemas.openxmlformats.org/drawingml/2006/main">
              <a:ext uri="{FF2B5EF4-FFF2-40B4-BE49-F238E27FC236}">
                <a16:creationId xmlns:a16="http://schemas.microsoft.com/office/drawing/2014/main" id="{9A30C904-D901-40CD-8204-F4FE92E60562}"/>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No es una reducción general del IVA ni una instrucción para facturar al 7%.</a:t>
            </a:r>
          </a:p>
        </p:txBody>
      </p:sp>
      <p:sp>
        <p:nvSpPr>
          <p:cNvPr id="9" name="">
            <a:extLst xmlns:a="http://schemas.openxmlformats.org/drawingml/2006/main">
              <a:ext uri="{FF2B5EF4-FFF2-40B4-BE49-F238E27FC236}">
                <a16:creationId xmlns:a16="http://schemas.microsoft.com/office/drawing/2014/main" id="{D0140962-3499-40C0-9918-B514A8EF1F90}"/>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16</a:t>
            </a:r>
          </a:p>
        </p:txBody>
      </p:sp>
      <p:sp>
        <p:nvSpPr>
          <p:cNvPr id="10" name="">
            <a:extLst xmlns:a="http://schemas.openxmlformats.org/drawingml/2006/main">
              <a:ext uri="{FF2B5EF4-FFF2-40B4-BE49-F238E27FC236}">
                <a16:creationId xmlns:a16="http://schemas.microsoft.com/office/drawing/2014/main" id="{4E95A8B3-A78C-4032-AAD5-E449E2A66469}"/>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2556648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C81AAE-658F-4C68-A3AB-A14E66B586C8}"/>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Caso 2 · Dos negocios con las mismas ventas</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4953000"/>
                <a:gridCol w="2933700"/>
                <a:gridCol w="2933700"/>
              </a:tblGrid>
              <a:tr h="809625">
                <a:tc>
                  <a:txBody>
                    <a:bodyPr/>
                    <a:lstStyle/>
                    <a:p>
                      <a:r>
                        <a:rPr sz="1875" b="1">
                          <a:solidFill>
                            <a:srgbClr val="FFFFFF"/>
                          </a:solidFill>
                          <a:latin typeface="Arial"/>
                          <a:ea typeface="Arial"/>
                          <a:cs typeface="Arial"/>
                        </a:rPr>
                        <a:t>Datos mensuales en MXN</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Negocio A</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Negocio B</a:t>
                      </a:r>
                    </a:p>
                  </a:txBody>
                  <a:tcPr marL="152400" marR="133350" marT="76200" marB="76200" anchor="ctr">
                    <a:solidFill>
                      <a:srgbClr val="30343B"/>
                    </a:solidFill>
                  </a:tcPr>
                </a:tc>
              </a:tr>
              <a:tr h="809625">
                <a:tc>
                  <a:txBody>
                    <a:bodyPr/>
                    <a:lstStyle/>
                    <a:p>
                      <a:r>
                        <a:rPr sz="1950" b="0">
                          <a:solidFill>
                            <a:srgbClr val="20242B"/>
                          </a:solidFill>
                          <a:latin typeface="Arial"/>
                          <a:ea typeface="Arial"/>
                          <a:cs typeface="Arial"/>
                        </a:rPr>
                        <a:t>Ventas gravadas cobradas sin IVA</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$100,000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$100,000</a:t>
                      </a:r>
                    </a:p>
                  </a:txBody>
                  <a:tcPr marL="152400" marR="133350" marT="76200" marB="76200" anchor="ctr">
                    <a:solidFill>
                      <a:srgbClr val="F6F6F6"/>
                    </a:solidFill>
                  </a:tcPr>
                </a:tc>
              </a:tr>
              <a:tr h="809625">
                <a:tc>
                  <a:txBody>
                    <a:bodyPr/>
                    <a:lstStyle/>
                    <a:p>
                      <a:r>
                        <a:rPr sz="1950" b="0">
                          <a:solidFill>
                            <a:srgbClr val="20242B"/>
                          </a:solidFill>
                          <a:latin typeface="Arial"/>
                          <a:ea typeface="Arial"/>
                          <a:cs typeface="Arial"/>
                        </a:rPr>
                        <a:t>IVA a cargo supuesto al 16%</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$16,000</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$16,000</a:t>
                      </a:r>
                    </a:p>
                  </a:txBody>
                  <a:tcPr marL="152400" marR="133350" marT="76200" marB="76200" anchor="ctr">
                    <a:solidFill>
                      <a:srgbClr val="FFFFFF"/>
                    </a:solidFill>
                  </a:tcPr>
                </a:tc>
              </a:tr>
              <a:tr h="809625">
                <a:tc>
                  <a:txBody>
                    <a:bodyPr/>
                    <a:lstStyle/>
                    <a:p>
                      <a:r>
                        <a:rPr sz="1950" b="0">
                          <a:solidFill>
                            <a:srgbClr val="20242B"/>
                          </a:solidFill>
                          <a:latin typeface="Arial"/>
                          <a:ea typeface="Arial"/>
                          <a:cs typeface="Arial"/>
                        </a:rPr>
                        <a:t>IVA acreditable del mes</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$4,000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$12,000</a:t>
                      </a:r>
                    </a:p>
                  </a:txBody>
                  <a:tcPr marL="152400" marR="133350" marT="76200" marB="76200" anchor="ctr">
                    <a:solidFill>
                      <a:srgbClr val="F6F6F6"/>
                    </a:solidFill>
                  </a:tcPr>
                </a:tc>
              </a:tr>
            </a:tbl>
          </a:graphicData>
        </a:graphic>
      </p:graphicFrame>
      <p:sp>
        <p:nvSpPr>
          <p:cNvPr id="3" name="">
            <a:extLst xmlns:a="http://schemas.openxmlformats.org/drawingml/2006/main">
              <a:ext uri="{FF2B5EF4-FFF2-40B4-BE49-F238E27FC236}">
                <a16:creationId xmlns:a16="http://schemas.microsoft.com/office/drawing/2014/main" id="{FE4C9BCF-7CCB-4DC0-8C9A-2AAF3DA1E8AE}"/>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Sin retenciones ni saldos anteriores. Suponga elegibilidad para comparar la opción.</a:t>
            </a:r>
          </a:p>
        </p:txBody>
      </p:sp>
      <p:sp>
        <p:nvSpPr>
          <p:cNvPr id="4" name="">
            <a:extLst xmlns:a="http://schemas.openxmlformats.org/drawingml/2006/main">
              <a:ext uri="{FF2B5EF4-FFF2-40B4-BE49-F238E27FC236}">
                <a16:creationId xmlns:a16="http://schemas.microsoft.com/office/drawing/2014/main" id="{AF8CCBDB-D3DF-4DF9-88C7-E4FBB1F565BD}"/>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17</a:t>
            </a:r>
          </a:p>
        </p:txBody>
      </p:sp>
    </p:spTree>
    <p:extLst>
      <p:ext uri="{BB962C8B-B14F-4D97-AF65-F5344CB8AC3E}">
        <p14:creationId xmlns:p14="http://schemas.microsoft.com/office/powerpoint/2010/main" val="6985278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8ECAB9-7A0F-4ABE-81A0-45E4AB1495AE}"/>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Caso 2 · El IVA acreditable cambia el resultado</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4953000"/>
                <a:gridCol w="2933700"/>
                <a:gridCol w="2933700"/>
              </a:tblGrid>
              <a:tr h="809625">
                <a:tc>
                  <a:txBody>
                    <a:bodyPr/>
                    <a:lstStyle/>
                    <a:p>
                      <a:r>
                        <a:rPr sz="1875" b="1">
                          <a:solidFill>
                            <a:srgbClr val="FFFFFF"/>
                          </a:solidFill>
                          <a:latin typeface="Arial"/>
                          <a:ea typeface="Arial"/>
                          <a:cs typeface="Arial"/>
                        </a:rPr>
                        <a:t>Pago mensual del supuesto</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Negocio A</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Negocio B</a:t>
                      </a:r>
                    </a:p>
                  </a:txBody>
                  <a:tcPr marL="152400" marR="133350" marT="76200" marB="76200" anchor="ctr">
                    <a:solidFill>
                      <a:srgbClr val="30343B"/>
                    </a:solidFill>
                  </a:tcPr>
                </a:tc>
              </a:tr>
              <a:tr h="809625">
                <a:tc>
                  <a:txBody>
                    <a:bodyPr/>
                    <a:lstStyle/>
                    <a:p>
                      <a:r>
                        <a:rPr sz="1950" b="0">
                          <a:solidFill>
                            <a:srgbClr val="20242B"/>
                          </a:solidFill>
                          <a:latin typeface="Arial"/>
                          <a:ea typeface="Arial"/>
                          <a:cs typeface="Arial"/>
                        </a:rPr>
                        <a:t>Referencia 16% menos acreditable</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$12,000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$4,000</a:t>
                      </a:r>
                    </a:p>
                  </a:txBody>
                  <a:tcPr marL="152400" marR="133350" marT="76200" marB="76200" anchor="ctr">
                    <a:solidFill>
                      <a:srgbClr val="F6F6F6"/>
                    </a:solidFill>
                  </a:tcPr>
                </a:tc>
              </a:tr>
              <a:tr h="809625">
                <a:tc>
                  <a:txBody>
                    <a:bodyPr/>
                    <a:lstStyle/>
                    <a:p>
                      <a:r>
                        <a:rPr sz="1950" b="0">
                          <a:solidFill>
                            <a:srgbClr val="20242B"/>
                          </a:solidFill>
                          <a:latin typeface="Arial"/>
                          <a:ea typeface="Arial"/>
                          <a:cs typeface="Arial"/>
                        </a:rPr>
                        <a:t>Opción propuesta 7% sin acreditar</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$7,000</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$7,000</a:t>
                      </a:r>
                    </a:p>
                  </a:txBody>
                  <a:tcPr marL="152400" marR="133350" marT="76200" marB="76200" anchor="ctr">
                    <a:solidFill>
                      <a:srgbClr val="FFFFFF"/>
                    </a:solidFill>
                  </a:tcPr>
                </a:tc>
              </a:tr>
              <a:tr h="809625">
                <a:tc>
                  <a:txBody>
                    <a:bodyPr/>
                    <a:lstStyle/>
                    <a:p>
                      <a:r>
                        <a:rPr sz="1950" b="0">
                          <a:solidFill>
                            <a:srgbClr val="20242B"/>
                          </a:solidFill>
                          <a:latin typeface="Arial"/>
                          <a:ea typeface="Arial"/>
                          <a:cs typeface="Arial"/>
                        </a:rPr>
                        <a:t>Cambio con la opción</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-$5,000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+$3,000</a:t>
                      </a:r>
                    </a:p>
                  </a:txBody>
                  <a:tcPr marL="152400" marR="133350" marT="76200" marB="76200" anchor="ctr">
                    <a:solidFill>
                      <a:srgbClr val="F6F6F6"/>
                    </a:solidFill>
                  </a:tcPr>
                </a:tc>
              </a:tr>
            </a:tbl>
          </a:graphicData>
        </a:graphic>
      </p:graphicFrame>
      <p:sp>
        <p:nvSpPr>
          <p:cNvPr id="3" name="">
            <a:extLst xmlns:a="http://schemas.openxmlformats.org/drawingml/2006/main">
              <a:ext uri="{FF2B5EF4-FFF2-40B4-BE49-F238E27FC236}">
                <a16:creationId xmlns:a16="http://schemas.microsoft.com/office/drawing/2014/main" id="{D3F09624-46AB-4C9D-9624-20F0DA02AD01}"/>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En este supuesto, A pagaría menos y B pagaría más. No es una recomendación de régimen.</a:t>
            </a:r>
          </a:p>
        </p:txBody>
      </p:sp>
      <p:sp>
        <p:nvSpPr>
          <p:cNvPr id="4" name="">
            <a:extLst xmlns:a="http://schemas.openxmlformats.org/drawingml/2006/main">
              <a:ext uri="{FF2B5EF4-FFF2-40B4-BE49-F238E27FC236}">
                <a16:creationId xmlns:a16="http://schemas.microsoft.com/office/drawing/2014/main" id="{97DEE473-07D5-4C1C-A185-1C299F18E561}"/>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18</a:t>
            </a:r>
          </a:p>
        </p:txBody>
      </p:sp>
    </p:spTree>
    <p:extLst>
      <p:ext uri="{BB962C8B-B14F-4D97-AF65-F5344CB8AC3E}">
        <p14:creationId xmlns:p14="http://schemas.microsoft.com/office/powerpoint/2010/main" val="9324695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AD4FDC-3D7E-4E89-BEBB-F1B80CD3158C}"/>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Otros temas para una revisión específica</a:t>
            </a:r>
          </a:p>
        </p:txBody>
      </p:sp>
      <p:graphicFrame>
        <p:nvGraphicFramePr>
          <p:cNvPr id="7"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647700">
                <a:tc>
                  <a:txBody>
                    <a:bodyPr/>
                    <a:lstStyle/>
                    <a:p>
                      <a:r>
                        <a:rPr sz="1875" b="1">
                          <a:solidFill>
                            <a:srgbClr val="FFFFFF"/>
                          </a:solidFill>
                          <a:latin typeface="Arial"/>
                          <a:ea typeface="Arial"/>
                          <a:cs typeface="Arial"/>
                        </a:rPr>
                        <a:t>Perfil</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Propuesta descrita en CGPE</a:t>
                      </a:r>
                    </a:p>
                  </a:txBody>
                  <a:tcPr marL="152400" marR="133350" marT="76200" marB="76200" anchor="ctr">
                    <a:solidFill>
                      <a:srgbClr val="30343B"/>
                    </a:solidFill>
                  </a:tcPr>
                </a:tc>
              </a:tr>
              <a:tr h="647700">
                <a:tc>
                  <a:txBody>
                    <a:bodyPr/>
                    <a:lstStyle/>
                    <a:p>
                      <a:r>
                        <a:rPr sz="1950" b="0">
                          <a:solidFill>
                            <a:srgbClr val="20242B"/>
                          </a:solidFill>
                          <a:latin typeface="Arial"/>
                          <a:ea typeface="Arial"/>
                          <a:cs typeface="Arial"/>
                        </a:rPr>
                        <a:t>Socios y grupos empresariales</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CUFIN, CUCA y eliminación del ROGS.</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Autotransporte</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Focalización del estímulo por peajes.</a:t>
                      </a:r>
                    </a:p>
                  </a:txBody>
                  <a:tcPr marL="152400" marR="133350" marT="76200" marB="76200" anchor="ctr">
                    <a:solidFill>
                      <a:srgbClr val="FFFFFF"/>
                    </a:solidFill>
                  </a:tcPr>
                </a:tc>
              </a:tr>
              <a:tr h="647700">
                <a:tc>
                  <a:txBody>
                    <a:bodyPr/>
                    <a:lstStyle/>
                    <a:p>
                      <a:r>
                        <a:rPr sz="1950" b="0">
                          <a:solidFill>
                            <a:srgbClr val="20242B"/>
                          </a:solidFill>
                          <a:latin typeface="Arial"/>
                          <a:ea typeface="Arial"/>
                          <a:cs typeface="Arial"/>
                        </a:rPr>
                        <a:t>Capitales en el extranjero</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Programa de repatriación con requisitos.</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Librerías y actividades reguladas</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Estímulos de IVA y cambios en derechos.</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080E821-0EF2-42F6-8D80-8EBC2B8E1012}"/>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La relevancia depende de actividad, estructura y requisitos particulares.</a:t>
            </a:r>
          </a:p>
        </p:txBody>
      </p:sp>
      <p:sp>
        <p:nvSpPr>
          <p:cNvPr id="4" name="">
            <a:extLst xmlns:a="http://schemas.openxmlformats.org/drawingml/2006/main">
              <a:ext uri="{FF2B5EF4-FFF2-40B4-BE49-F238E27FC236}">
                <a16:creationId xmlns:a16="http://schemas.microsoft.com/office/drawing/2014/main" id="{DB5D8720-583E-4DBD-9331-6E200A6EE32D}"/>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19</a:t>
            </a:r>
          </a:p>
        </p:txBody>
      </p:sp>
      <p:sp>
        <p:nvSpPr>
          <p:cNvPr id="5" name="">
            <a:extLst xmlns:a="http://schemas.openxmlformats.org/drawingml/2006/main">
              <a:ext uri="{FF2B5EF4-FFF2-40B4-BE49-F238E27FC236}">
                <a16:creationId xmlns:a16="http://schemas.microsoft.com/office/drawing/2014/main" id="{25ED73F6-42B9-431C-9736-FD0F2C29FC17}"/>
              </a:ext>
            </a:extLst>
          </p:cNvPr>
          <p:cNvSpPr>
            <a:spLocks xmlns:a="http://schemas.openxmlformats.org/drawingml/2006/main" noGrp="1"/>
          </p:cNvSpPr>
          <p:nvPr/>
        </p:nvSpPr>
        <p:spPr>
          <a:xfrm xmlns:a="http://schemas.openxmlformats.org/drawingml/2006/main">
            <a:off x="64770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Propuestas CGPE 2027 · Sujetas a texto final</a:t>
            </a:r>
          </a:p>
        </p:txBody>
      </p:sp>
    </p:spTree>
    <p:extLst>
      <p:ext uri="{BB962C8B-B14F-4D97-AF65-F5344CB8AC3E}">
        <p14:creationId xmlns:p14="http://schemas.microsoft.com/office/powerpoint/2010/main" val="197452335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FB0F41-5888-43AE-B185-0CA09C5A404C}"/>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El expediente que hace útil el análisis</a:t>
            </a:r>
          </a:p>
        </p:txBody>
      </p:sp>
      <p:sp>
        <p:nvSpPr>
          <p:cNvPr id="2" name="">
            <a:extLst xmlns:a="http://schemas.openxmlformats.org/drawingml/2006/main">
              <a:ext uri="{FF2B5EF4-FFF2-40B4-BE49-F238E27FC236}">
                <a16:creationId xmlns:a16="http://schemas.microsoft.com/office/drawing/2014/main" id="{55F01FBA-D8F1-4725-98AE-0EE4C111EABC}"/>
              </a:ext>
            </a:extLst>
          </p:cNvPr>
          <p:cNvSpPr>
            <a:spLocks xmlns:a="http://schemas.openxmlformats.org/drawingml/2006/main" noGrp="1"/>
          </p:cNvSpPr>
          <p:nvPr/>
        </p:nvSpPr>
        <p:spPr>
          <a:xfrm xmlns:a="http://schemas.openxmlformats.org/drawingml/2006/main">
            <a:off x="685800" y="18288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Cifras</a:t>
            </a:r>
          </a:p>
        </p:txBody>
      </p:sp>
      <p:sp>
        <p:nvSpPr>
          <p:cNvPr id="3" name="">
            <a:extLst xmlns:a="http://schemas.openxmlformats.org/drawingml/2006/main">
              <a:ext uri="{FF2B5EF4-FFF2-40B4-BE49-F238E27FC236}">
                <a16:creationId xmlns:a16="http://schemas.microsoft.com/office/drawing/2014/main" id="{DA04EA7F-201D-493C-AD1D-FA67CC935DB5}"/>
              </a:ext>
            </a:extLst>
          </p:cNvPr>
          <p:cNvSpPr>
            <a:spLocks xmlns:a="http://schemas.openxmlformats.org/drawingml/2006/main" noGrp="1"/>
          </p:cNvSpPr>
          <p:nvPr/>
        </p:nvSpPr>
        <p:spPr>
          <a:xfrm xmlns:a="http://schemas.openxmlformats.org/drawingml/2006/main">
            <a:off x="4095750" y="18288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Declaraciones, conciliación contable fiscal y detalle de pérdidas.</a:t>
            </a:r>
          </a:p>
        </p:txBody>
      </p:sp>
      <p:sp>
        <p:nvSpPr>
          <p:cNvPr id="4" name="">
            <a:extLst xmlns:a="http://schemas.openxmlformats.org/drawingml/2006/main">
              <a:ext uri="{FF2B5EF4-FFF2-40B4-BE49-F238E27FC236}">
                <a16:creationId xmlns:a16="http://schemas.microsoft.com/office/drawing/2014/main" id="{044CD6B4-3FE6-49E8-A5E2-6AA16BA871C1}"/>
              </a:ext>
            </a:extLst>
          </p:cNvPr>
          <p:cNvSpPr>
            <a:spLocks xmlns:a="http://schemas.openxmlformats.org/drawingml/2006/main" noGrp="1"/>
          </p:cNvSpPr>
          <p:nvPr/>
        </p:nvSpPr>
        <p:spPr>
          <a:xfrm xmlns:a="http://schemas.openxmlformats.org/drawingml/2006/main">
            <a:off x="685800" y="30289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Operaciones</a:t>
            </a:r>
          </a:p>
        </p:txBody>
      </p:sp>
      <p:sp>
        <p:nvSpPr>
          <p:cNvPr id="5" name="">
            <a:extLst xmlns:a="http://schemas.openxmlformats.org/drawingml/2006/main">
              <a:ext uri="{FF2B5EF4-FFF2-40B4-BE49-F238E27FC236}">
                <a16:creationId xmlns:a16="http://schemas.microsoft.com/office/drawing/2014/main" id="{93B2EF7D-D2E6-408F-AAF4-002CB9753D23}"/>
              </a:ext>
            </a:extLst>
          </p:cNvPr>
          <p:cNvSpPr>
            <a:spLocks xmlns:a="http://schemas.openxmlformats.org/drawingml/2006/main" noGrp="1"/>
          </p:cNvSpPr>
          <p:nvPr/>
        </p:nvSpPr>
        <p:spPr>
          <a:xfrm xmlns:a="http://schemas.openxmlformats.org/drawingml/2006/main">
            <a:off x="4095750" y="302895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Contratos, CFDI, pagos y evidencia de entrega.</a:t>
            </a:r>
          </a:p>
        </p:txBody>
      </p:sp>
      <p:sp>
        <p:nvSpPr>
          <p:cNvPr id="6" name="">
            <a:extLst xmlns:a="http://schemas.openxmlformats.org/drawingml/2006/main">
              <a:ext uri="{FF2B5EF4-FFF2-40B4-BE49-F238E27FC236}">
                <a16:creationId xmlns:a16="http://schemas.microsoft.com/office/drawing/2014/main" id="{5E608EC7-4329-46F5-98D3-24F6DC116FA2}"/>
              </a:ext>
            </a:extLst>
          </p:cNvPr>
          <p:cNvSpPr>
            <a:spLocks xmlns:a="http://schemas.openxmlformats.org/drawingml/2006/main" noGrp="1"/>
          </p:cNvSpPr>
          <p:nvPr/>
        </p:nvSpPr>
        <p:spPr>
          <a:xfrm xmlns:a="http://schemas.openxmlformats.org/drawingml/2006/main">
            <a:off x="685800" y="42291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Decisiones</a:t>
            </a:r>
          </a:p>
        </p:txBody>
      </p:sp>
      <p:sp>
        <p:nvSpPr>
          <p:cNvPr id="7" name="">
            <a:extLst xmlns:a="http://schemas.openxmlformats.org/drawingml/2006/main">
              <a:ext uri="{FF2B5EF4-FFF2-40B4-BE49-F238E27FC236}">
                <a16:creationId xmlns:a16="http://schemas.microsoft.com/office/drawing/2014/main" id="{9CD976D2-54F8-4ACF-87CC-2A60F792CACD}"/>
              </a:ext>
            </a:extLst>
          </p:cNvPr>
          <p:cNvSpPr>
            <a:spLocks xmlns:a="http://schemas.openxmlformats.org/drawingml/2006/main" noGrp="1"/>
          </p:cNvSpPr>
          <p:nvPr/>
        </p:nvSpPr>
        <p:spPr>
          <a:xfrm xmlns:a="http://schemas.openxmlformats.org/drawingml/2006/main">
            <a:off x="4095750" y="42291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Presupuesto, inversiones previstas y calendario de deuda.</a:t>
            </a:r>
          </a:p>
        </p:txBody>
      </p:sp>
      <p:sp>
        <p:nvSpPr>
          <p:cNvPr id="8" name="">
            <a:extLst xmlns:a="http://schemas.openxmlformats.org/drawingml/2006/main">
              <a:ext uri="{FF2B5EF4-FFF2-40B4-BE49-F238E27FC236}">
                <a16:creationId xmlns:a16="http://schemas.microsoft.com/office/drawing/2014/main" id="{F85118CF-FDE9-463E-B330-58BE899F5C18}"/>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La primera conversación puede comenzar con información general y sin credenciales.</a:t>
            </a:r>
          </a:p>
        </p:txBody>
      </p:sp>
      <p:sp>
        <p:nvSpPr>
          <p:cNvPr id="9" name="">
            <a:extLst xmlns:a="http://schemas.openxmlformats.org/drawingml/2006/main">
              <a:ext uri="{FF2B5EF4-FFF2-40B4-BE49-F238E27FC236}">
                <a16:creationId xmlns:a16="http://schemas.microsoft.com/office/drawing/2014/main" id="{256C9873-463A-4366-9E35-61C304092EEC}"/>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20</a:t>
            </a:r>
          </a:p>
        </p:txBody>
      </p:sp>
    </p:spTree>
    <p:extLst>
      <p:ext uri="{BB962C8B-B14F-4D97-AF65-F5344CB8AC3E}">
        <p14:creationId xmlns:p14="http://schemas.microsoft.com/office/powerpoint/2010/main" val="4650764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7CCD45-5587-4FDB-B71D-6FE41C0CC8D0}"/>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Tu autodiagnóstico en cinco preguntas</a:t>
            </a:r>
          </a:p>
        </p:txBody>
      </p:sp>
      <p:sp>
        <p:nvSpPr>
          <p:cNvPr id="2" name="">
            <a:extLst xmlns:a="http://schemas.openxmlformats.org/drawingml/2006/main">
              <a:ext uri="{FF2B5EF4-FFF2-40B4-BE49-F238E27FC236}">
                <a16:creationId xmlns:a16="http://schemas.microsoft.com/office/drawing/2014/main" id="{9078C468-AE3C-4367-B435-50F1ED0DECD0}"/>
              </a:ext>
            </a:extLst>
          </p:cNvPr>
          <p:cNvSpPr>
            <a:spLocks xmlns:a="http://schemas.openxmlformats.org/drawingml/2006/main" noGrp="1"/>
          </p:cNvSpPr>
          <p:nvPr/>
        </p:nvSpPr>
        <p:spPr>
          <a:xfrm xmlns:a="http://schemas.openxmlformats.org/drawingml/2006/main">
            <a:off x="685800" y="18859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0402D29-6167-4FDC-A6B3-1FBDA4E9E856}"/>
              </a:ext>
            </a:extLst>
          </p:cNvPr>
          <p:cNvSpPr>
            <a:spLocks xmlns:a="http://schemas.openxmlformats.org/drawingml/2006/main" noGrp="1"/>
          </p:cNvSpPr>
          <p:nvPr/>
        </p:nvSpPr>
        <p:spPr>
          <a:xfrm xmlns:a="http://schemas.openxmlformats.org/drawingml/2006/main">
            <a:off x="1447800" y="1885950"/>
            <a:ext cx="985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¿Tengo identificadas mis pérdidas fiscales por año?</a:t>
            </a:r>
          </a:p>
        </p:txBody>
      </p:sp>
      <p:sp>
        <p:nvSpPr>
          <p:cNvPr id="4" name="">
            <a:extLst xmlns:a="http://schemas.openxmlformats.org/drawingml/2006/main">
              <a:ext uri="{FF2B5EF4-FFF2-40B4-BE49-F238E27FC236}">
                <a16:creationId xmlns:a16="http://schemas.microsoft.com/office/drawing/2014/main" id="{433E7B91-5ACD-4B99-ACC2-5C9982EC2465}"/>
              </a:ext>
            </a:extLst>
          </p:cNvPr>
          <p:cNvSpPr>
            <a:spLocks xmlns:a="http://schemas.openxmlformats.org/drawingml/2006/main" noGrp="1"/>
          </p:cNvSpPr>
          <p:nvPr/>
        </p:nvSpPr>
        <p:spPr>
          <a:xfrm xmlns:a="http://schemas.openxmlformats.org/drawingml/2006/main">
            <a:off x="685800" y="25717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8D2EAD9-DB76-4637-9978-3D281C14A72D}"/>
              </a:ext>
            </a:extLst>
          </p:cNvPr>
          <p:cNvSpPr>
            <a:spLocks xmlns:a="http://schemas.openxmlformats.org/drawingml/2006/main" noGrp="1"/>
          </p:cNvSpPr>
          <p:nvPr/>
        </p:nvSpPr>
        <p:spPr>
          <a:xfrm xmlns:a="http://schemas.openxmlformats.org/drawingml/2006/main">
            <a:off x="1447800" y="2571750"/>
            <a:ext cx="985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¿Sé qué soporta mis principales deducciones?</a:t>
            </a:r>
          </a:p>
        </p:txBody>
      </p:sp>
      <p:sp>
        <p:nvSpPr>
          <p:cNvPr id="6" name="">
            <a:extLst xmlns:a="http://schemas.openxmlformats.org/drawingml/2006/main">
              <a:ext uri="{FF2B5EF4-FFF2-40B4-BE49-F238E27FC236}">
                <a16:creationId xmlns:a16="http://schemas.microsoft.com/office/drawing/2014/main" id="{E868785F-9FD3-41DE-92CD-F5234F193110}"/>
              </a:ext>
            </a:extLst>
          </p:cNvPr>
          <p:cNvSpPr>
            <a:spLocks xmlns:a="http://schemas.openxmlformats.org/drawingml/2006/main" noGrp="1"/>
          </p:cNvSpPr>
          <p:nvPr/>
        </p:nvSpPr>
        <p:spPr>
          <a:xfrm xmlns:a="http://schemas.openxmlformats.org/drawingml/2006/main">
            <a:off x="685800" y="32575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C865B6B7-B5AE-4A3B-B513-931BB45C4778}"/>
              </a:ext>
            </a:extLst>
          </p:cNvPr>
          <p:cNvSpPr>
            <a:spLocks xmlns:a="http://schemas.openxmlformats.org/drawingml/2006/main" noGrp="1"/>
          </p:cNvSpPr>
          <p:nvPr/>
        </p:nvSpPr>
        <p:spPr>
          <a:xfrm xmlns:a="http://schemas.openxmlformats.org/drawingml/2006/main">
            <a:off x="1447800" y="3257550"/>
            <a:ext cx="985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¿Conozco el efecto fiscal de mi financiamiento?</a:t>
            </a:r>
          </a:p>
        </p:txBody>
      </p:sp>
      <p:sp>
        <p:nvSpPr>
          <p:cNvPr id="8" name="">
            <a:extLst xmlns:a="http://schemas.openxmlformats.org/drawingml/2006/main">
              <a:ext uri="{FF2B5EF4-FFF2-40B4-BE49-F238E27FC236}">
                <a16:creationId xmlns:a16="http://schemas.microsoft.com/office/drawing/2014/main" id="{0CD3E19B-6B19-4826-B739-08EA957EBBDD}"/>
              </a:ext>
            </a:extLst>
          </p:cNvPr>
          <p:cNvSpPr>
            <a:spLocks xmlns:a="http://schemas.openxmlformats.org/drawingml/2006/main" noGrp="1"/>
          </p:cNvSpPr>
          <p:nvPr/>
        </p:nvSpPr>
        <p:spPr>
          <a:xfrm xmlns:a="http://schemas.openxmlformats.org/drawingml/2006/main">
            <a:off x="685800" y="39433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51ACE432-E4A2-4E3F-9B81-4C00A35580CE}"/>
              </a:ext>
            </a:extLst>
          </p:cNvPr>
          <p:cNvSpPr>
            <a:spLocks xmlns:a="http://schemas.openxmlformats.org/drawingml/2006/main" noGrp="1"/>
          </p:cNvSpPr>
          <p:nvPr/>
        </p:nvSpPr>
        <p:spPr>
          <a:xfrm xmlns:a="http://schemas.openxmlformats.org/drawingml/2006/main">
            <a:off x="1447800" y="3943350"/>
            <a:ext cx="985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¿He comparado opciones de régimen con datos reales?</a:t>
            </a:r>
          </a:p>
        </p:txBody>
      </p:sp>
      <p:sp>
        <p:nvSpPr>
          <p:cNvPr id="10" name="">
            <a:extLst xmlns:a="http://schemas.openxmlformats.org/drawingml/2006/main">
              <a:ext uri="{FF2B5EF4-FFF2-40B4-BE49-F238E27FC236}">
                <a16:creationId xmlns:a16="http://schemas.microsoft.com/office/drawing/2014/main" id="{1EB828DE-DC6E-402E-8ED4-625B59A425C7}"/>
              </a:ext>
            </a:extLst>
          </p:cNvPr>
          <p:cNvSpPr>
            <a:spLocks xmlns:a="http://schemas.openxmlformats.org/drawingml/2006/main" noGrp="1"/>
          </p:cNvSpPr>
          <p:nvPr/>
        </p:nvSpPr>
        <p:spPr>
          <a:xfrm xmlns:a="http://schemas.openxmlformats.org/drawingml/2006/main">
            <a:off x="685800" y="46291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C8BEA6F6-9F2D-479B-B05B-56ABB6293392}"/>
              </a:ext>
            </a:extLst>
          </p:cNvPr>
          <p:cNvSpPr>
            <a:spLocks xmlns:a="http://schemas.openxmlformats.org/drawingml/2006/main" noGrp="1"/>
          </p:cNvSpPr>
          <p:nvPr/>
        </p:nvSpPr>
        <p:spPr>
          <a:xfrm xmlns:a="http://schemas.openxmlformats.org/drawingml/2006/main">
            <a:off x="1447800" y="4629150"/>
            <a:ext cx="985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¿Mi presupuesto incluye un escenario fiscal distinto?</a:t>
            </a:r>
          </a:p>
        </p:txBody>
      </p:sp>
      <p:sp>
        <p:nvSpPr>
          <p:cNvPr id="12" name="">
            <a:extLst xmlns:a="http://schemas.openxmlformats.org/drawingml/2006/main">
              <a:ext uri="{FF2B5EF4-FFF2-40B4-BE49-F238E27FC236}">
                <a16:creationId xmlns:a16="http://schemas.microsoft.com/office/drawing/2014/main" id="{DD060EA5-5282-407A-816D-28E6AE75899E}"/>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Marca Sí, No o No aplica. Elige una respuesta que requiera revisión.</a:t>
            </a:r>
          </a:p>
        </p:txBody>
      </p:sp>
      <p:sp>
        <p:nvSpPr>
          <p:cNvPr id="13" name="">
            <a:extLst xmlns:a="http://schemas.openxmlformats.org/drawingml/2006/main">
              <a:ext uri="{FF2B5EF4-FFF2-40B4-BE49-F238E27FC236}">
                <a16:creationId xmlns:a16="http://schemas.microsoft.com/office/drawing/2014/main" id="{BF63B614-5DD1-458F-84D8-FC42BFAEB46B}"/>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21</a:t>
            </a:r>
          </a:p>
        </p:txBody>
      </p:sp>
    </p:spTree>
    <p:extLst>
      <p:ext uri="{BB962C8B-B14F-4D97-AF65-F5344CB8AC3E}">
        <p14:creationId xmlns:p14="http://schemas.microsoft.com/office/powerpoint/2010/main" val="213650358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E8DED6-4DE7-4E99-A3EC-E5E9419AEDD3}"/>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La prioridad depende de tu decisión</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647700">
                <a:tc>
                  <a:txBody>
                    <a:bodyPr/>
                    <a:lstStyle/>
                    <a:p>
                      <a:r>
                        <a:rPr sz="1875" b="1">
                          <a:solidFill>
                            <a:srgbClr val="FFFFFF"/>
                          </a:solidFill>
                          <a:latin typeface="Arial"/>
                          <a:ea typeface="Arial"/>
                          <a:cs typeface="Arial"/>
                        </a:rPr>
                        <a:t>Situación</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Siguiente revisión sugerida</a:t>
                      </a:r>
                    </a:p>
                  </a:txBody>
                  <a:tcPr marL="152400" marR="133350" marT="76200" marB="76200" anchor="ctr">
                    <a:solidFill>
                      <a:srgbClr val="30343B"/>
                    </a:solidFill>
                  </a:tcPr>
                </a:tc>
              </a:tr>
              <a:tr h="647700">
                <a:tc>
                  <a:txBody>
                    <a:bodyPr/>
                    <a:lstStyle/>
                    <a:p>
                      <a:r>
                        <a:rPr sz="1950" b="0">
                          <a:solidFill>
                            <a:srgbClr val="20242B"/>
                          </a:solidFill>
                          <a:latin typeface="Arial"/>
                          <a:ea typeface="Arial"/>
                          <a:cs typeface="Arial"/>
                        </a:rPr>
                        <a:t>Pérdidas relevantes para el presupuesto</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Validez, saldo y escenario de aplicación.</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Crédito o inversión próximos</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Calendario, costo y deducibilidad.</a:t>
                      </a:r>
                    </a:p>
                  </a:txBody>
                  <a:tcPr marL="152400" marR="133350" marT="76200" marB="76200" anchor="ctr">
                    <a:solidFill>
                      <a:srgbClr val="FFFFFF"/>
                    </a:solidFill>
                  </a:tcPr>
                </a:tc>
              </a:tr>
              <a:tr h="647700">
                <a:tc>
                  <a:txBody>
                    <a:bodyPr/>
                    <a:lstStyle/>
                    <a:p>
                      <a:r>
                        <a:rPr sz="1950" b="0">
                          <a:solidFill>
                            <a:srgbClr val="20242B"/>
                          </a:solidFill>
                          <a:latin typeface="Arial"/>
                          <a:ea typeface="Arial"/>
                          <a:cs typeface="Arial"/>
                        </a:rPr>
                        <a:t>Posible cambio de régimen</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Elegibilidad y simulación anual.</a:t>
                      </a:r>
                    </a:p>
                  </a:txBody>
                  <a:tcPr marL="152400" marR="133350" marT="76200" marB="76200" anchor="ctr">
                    <a:solidFill>
                      <a:srgbClr val="F6F6F6"/>
                    </a:solidFill>
                  </a:tcPr>
                </a:tc>
              </a:tr>
              <a:tr h="647700">
                <a:tc>
                  <a:txBody>
                    <a:bodyPr/>
                    <a:lstStyle/>
                    <a:p>
                      <a:r>
                        <a:rPr sz="1950" b="0">
                          <a:solidFill>
                            <a:srgbClr val="20242B"/>
                          </a:solidFill>
                          <a:latin typeface="Arial"/>
                          <a:ea typeface="Arial"/>
                          <a:cs typeface="Arial"/>
                        </a:rPr>
                        <a:t>Operaciones con soporte incompleto</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Expediente y conciliación.</a:t>
                      </a:r>
                    </a:p>
                  </a:txBody>
                  <a:tcPr marL="15240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3CB4E61-490D-45CB-AABE-411FD6E704DE}"/>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Priorizar permite definir un alcance concreto para el asesor.</a:t>
            </a:r>
          </a:p>
        </p:txBody>
      </p:sp>
      <p:sp>
        <p:nvSpPr>
          <p:cNvPr id="4" name="">
            <a:extLst xmlns:a="http://schemas.openxmlformats.org/drawingml/2006/main">
              <a:ext uri="{FF2B5EF4-FFF2-40B4-BE49-F238E27FC236}">
                <a16:creationId xmlns:a16="http://schemas.microsoft.com/office/drawing/2014/main" id="{8F89A5A2-A768-42B7-8044-57F8F06565DD}"/>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22</a:t>
            </a:r>
          </a:p>
        </p:txBody>
      </p:sp>
    </p:spTree>
    <p:extLst>
      <p:ext uri="{BB962C8B-B14F-4D97-AF65-F5344CB8AC3E}">
        <p14:creationId xmlns:p14="http://schemas.microsoft.com/office/powerpoint/2010/main" val="1808749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ABE1EA-F17E-45A7-983D-AB2592546233}"/>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Un plan de preparación de treinta días</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809625">
                <a:tc>
                  <a:txBody>
                    <a:bodyPr/>
                    <a:lstStyle/>
                    <a:p>
                      <a:r>
                        <a:rPr sz="1875" b="1">
                          <a:solidFill>
                            <a:srgbClr val="FFFFFF"/>
                          </a:solidFill>
                          <a:latin typeface="Arial"/>
                          <a:ea typeface="Arial"/>
                          <a:cs typeface="Arial"/>
                        </a:rPr>
                        <a:t>Periodo</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Resultado esperado</a:t>
                      </a:r>
                    </a:p>
                  </a:txBody>
                  <a:tcPr marL="152400" marR="133350" marT="76200" marB="76200" anchor="ctr">
                    <a:solidFill>
                      <a:srgbClr val="30343B"/>
                    </a:solidFill>
                  </a:tcPr>
                </a:tc>
              </a:tr>
              <a:tr h="809625">
                <a:tc>
                  <a:txBody>
                    <a:bodyPr/>
                    <a:lstStyle/>
                    <a:p>
                      <a:r>
                        <a:rPr sz="1950" b="0">
                          <a:solidFill>
                            <a:srgbClr val="20242B"/>
                          </a:solidFill>
                          <a:latin typeface="Arial"/>
                          <a:ea typeface="Arial"/>
                          <a:cs typeface="Arial"/>
                        </a:rPr>
                        <a:t>Días 1 a 7</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Inventario de información y tema prioritario.</a:t>
                      </a:r>
                    </a:p>
                  </a:txBody>
                  <a:tcPr marL="152400" marR="133350" marT="76200" marB="76200" anchor="ctr">
                    <a:solidFill>
                      <a:srgbClr val="F6F6F6"/>
                    </a:solidFill>
                  </a:tcPr>
                </a:tc>
              </a:tr>
              <a:tr h="809625">
                <a:tc>
                  <a:txBody>
                    <a:bodyPr/>
                    <a:lstStyle/>
                    <a:p>
                      <a:r>
                        <a:rPr sz="1950" b="0">
                          <a:solidFill>
                            <a:srgbClr val="20242B"/>
                          </a:solidFill>
                          <a:latin typeface="Arial"/>
                          <a:ea typeface="Arial"/>
                          <a:cs typeface="Arial"/>
                        </a:rPr>
                        <a:t>Días 8 a 15</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Comparación de escenarios con el asesor.</a:t>
                      </a:r>
                    </a:p>
                  </a:txBody>
                  <a:tcPr marL="152400" marR="133350" marT="76200" marB="76200" anchor="ctr">
                    <a:solidFill>
                      <a:srgbClr val="FFFFFF"/>
                    </a:solidFill>
                  </a:tcPr>
                </a:tc>
              </a:tr>
              <a:tr h="809625">
                <a:tc>
                  <a:txBody>
                    <a:bodyPr/>
                    <a:lstStyle/>
                    <a:p>
                      <a:r>
                        <a:rPr sz="1950" b="0">
                          <a:solidFill>
                            <a:srgbClr val="20242B"/>
                          </a:solidFill>
                          <a:latin typeface="Arial"/>
                          <a:ea typeface="Arial"/>
                          <a:cs typeface="Arial"/>
                        </a:rPr>
                        <a:t>Días 16 a 30</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Decisión documentada y responsables.</a:t>
                      </a:r>
                    </a:p>
                  </a:txBody>
                  <a:tcPr marL="152400" marR="133350" marT="76200" marB="76200" anchor="ctr">
                    <a:solidFill>
                      <a:srgbClr val="F6F6F6"/>
                    </a:solidFill>
                  </a:tcPr>
                </a:tc>
              </a:tr>
            </a:tbl>
          </a:graphicData>
        </a:graphic>
      </p:graphicFrame>
      <p:sp>
        <p:nvSpPr>
          <p:cNvPr id="3" name="">
            <a:extLst xmlns:a="http://schemas.openxmlformats.org/drawingml/2006/main">
              <a:ext uri="{FF2B5EF4-FFF2-40B4-BE49-F238E27FC236}">
                <a16:creationId xmlns:a16="http://schemas.microsoft.com/office/drawing/2014/main" id="{9824C535-8153-49F7-98A0-9D60AB913093}"/>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Al publicarse el texto aplicable: actualizar supuestos y fechas de ejecución.</a:t>
            </a:r>
          </a:p>
        </p:txBody>
      </p:sp>
      <p:sp>
        <p:nvSpPr>
          <p:cNvPr id="4" name="">
            <a:extLst xmlns:a="http://schemas.openxmlformats.org/drawingml/2006/main">
              <a:ext uri="{FF2B5EF4-FFF2-40B4-BE49-F238E27FC236}">
                <a16:creationId xmlns:a16="http://schemas.microsoft.com/office/drawing/2014/main" id="{24FA8DEB-EB7A-4DC0-A861-D4D53DAFBF18}"/>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23</a:t>
            </a:r>
          </a:p>
        </p:txBody>
      </p:sp>
    </p:spTree>
    <p:extLst>
      <p:ext uri="{BB962C8B-B14F-4D97-AF65-F5344CB8AC3E}">
        <p14:creationId xmlns:p14="http://schemas.microsoft.com/office/powerpoint/2010/main" val="113111409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61426DE-42F5-4D8D-9D6E-29CA44CB9599}"/>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Cómo puede acompañarte Stratega</a:t>
            </a:r>
          </a:p>
        </p:txBody>
      </p:sp>
      <p:sp>
        <p:nvSpPr>
          <p:cNvPr id="2" name="">
            <a:extLst xmlns:a="http://schemas.openxmlformats.org/drawingml/2006/main">
              <a:ext uri="{FF2B5EF4-FFF2-40B4-BE49-F238E27FC236}">
                <a16:creationId xmlns:a16="http://schemas.microsoft.com/office/drawing/2014/main" id="{A4F43F60-96E0-47AD-A50D-1E3A83F3B778}"/>
              </a:ext>
            </a:extLst>
          </p:cNvPr>
          <p:cNvSpPr>
            <a:spLocks xmlns:a="http://schemas.openxmlformats.org/drawingml/2006/main" noGrp="1"/>
          </p:cNvSpPr>
          <p:nvPr/>
        </p:nvSpPr>
        <p:spPr>
          <a:xfrm xmlns:a="http://schemas.openxmlformats.org/drawingml/2006/main">
            <a:off x="685800" y="18288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Asesoría fiscal</a:t>
            </a:r>
          </a:p>
        </p:txBody>
      </p:sp>
      <p:sp>
        <p:nvSpPr>
          <p:cNvPr id="3" name="">
            <a:extLst xmlns:a="http://schemas.openxmlformats.org/drawingml/2006/main">
              <a:ext uri="{FF2B5EF4-FFF2-40B4-BE49-F238E27FC236}">
                <a16:creationId xmlns:a16="http://schemas.microsoft.com/office/drawing/2014/main" id="{ADA487D2-E70E-4618-B07C-9A61EDAF7018}"/>
              </a:ext>
            </a:extLst>
          </p:cNvPr>
          <p:cNvSpPr>
            <a:spLocks xmlns:a="http://schemas.openxmlformats.org/drawingml/2006/main" noGrp="1"/>
          </p:cNvSpPr>
          <p:nvPr/>
        </p:nvSpPr>
        <p:spPr>
          <a:xfrm xmlns:a="http://schemas.openxmlformats.org/drawingml/2006/main">
            <a:off x="4095750" y="18288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Análisis de operaciones y atención de asuntos fiscales.</a:t>
            </a:r>
          </a:p>
        </p:txBody>
      </p:sp>
      <p:sp>
        <p:nvSpPr>
          <p:cNvPr id="4" name="">
            <a:extLst xmlns:a="http://schemas.openxmlformats.org/drawingml/2006/main">
              <a:ext uri="{FF2B5EF4-FFF2-40B4-BE49-F238E27FC236}">
                <a16:creationId xmlns:a16="http://schemas.microsoft.com/office/drawing/2014/main" id="{1A7E673C-4A20-4D3F-9FB3-6BACE7893ACE}"/>
              </a:ext>
            </a:extLst>
          </p:cNvPr>
          <p:cNvSpPr>
            <a:spLocks xmlns:a="http://schemas.openxmlformats.org/drawingml/2006/main" noGrp="1"/>
          </p:cNvSpPr>
          <p:nvPr/>
        </p:nvSpPr>
        <p:spPr>
          <a:xfrm xmlns:a="http://schemas.openxmlformats.org/drawingml/2006/main">
            <a:off x="685800" y="30289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Auditoría y contabilidad</a:t>
            </a:r>
          </a:p>
        </p:txBody>
      </p:sp>
      <p:sp>
        <p:nvSpPr>
          <p:cNvPr id="5" name="">
            <a:extLst xmlns:a="http://schemas.openxmlformats.org/drawingml/2006/main">
              <a:ext uri="{FF2B5EF4-FFF2-40B4-BE49-F238E27FC236}">
                <a16:creationId xmlns:a16="http://schemas.microsoft.com/office/drawing/2014/main" id="{E463A756-0B10-41FE-97D3-C0D913B817C4}"/>
              </a:ext>
            </a:extLst>
          </p:cNvPr>
          <p:cNvSpPr>
            <a:spLocks xmlns:a="http://schemas.openxmlformats.org/drawingml/2006/main" noGrp="1"/>
          </p:cNvSpPr>
          <p:nvPr/>
        </p:nvSpPr>
        <p:spPr>
          <a:xfrm xmlns:a="http://schemas.openxmlformats.org/drawingml/2006/main">
            <a:off x="4095750" y="302895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Revisión y seguimiento de información contable y fiscal.</a:t>
            </a:r>
          </a:p>
        </p:txBody>
      </p:sp>
      <p:sp>
        <p:nvSpPr>
          <p:cNvPr id="6" name="">
            <a:extLst xmlns:a="http://schemas.openxmlformats.org/drawingml/2006/main">
              <a:ext uri="{FF2B5EF4-FFF2-40B4-BE49-F238E27FC236}">
                <a16:creationId xmlns:a16="http://schemas.microsoft.com/office/drawing/2014/main" id="{88552D74-AB3D-4F3C-ABAA-4C7DC3172763}"/>
              </a:ext>
            </a:extLst>
          </p:cNvPr>
          <p:cNvSpPr>
            <a:spLocks xmlns:a="http://schemas.openxmlformats.org/drawingml/2006/main" noGrp="1"/>
          </p:cNvSpPr>
          <p:nvPr/>
        </p:nvSpPr>
        <p:spPr>
          <a:xfrm xmlns:a="http://schemas.openxmlformats.org/drawingml/2006/main">
            <a:off x="685800" y="42291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Asesoría corporativa</a:t>
            </a:r>
          </a:p>
        </p:txBody>
      </p:sp>
      <p:sp>
        <p:nvSpPr>
          <p:cNvPr id="7" name="">
            <a:extLst xmlns:a="http://schemas.openxmlformats.org/drawingml/2006/main">
              <a:ext uri="{FF2B5EF4-FFF2-40B4-BE49-F238E27FC236}">
                <a16:creationId xmlns:a16="http://schemas.microsoft.com/office/drawing/2014/main" id="{1E47325A-96FD-4DEE-B36C-E364B700ABCE}"/>
              </a:ext>
            </a:extLst>
          </p:cNvPr>
          <p:cNvSpPr>
            <a:spLocks xmlns:a="http://schemas.openxmlformats.org/drawingml/2006/main" noGrp="1"/>
          </p:cNvSpPr>
          <p:nvPr/>
        </p:nvSpPr>
        <p:spPr>
          <a:xfrm xmlns:a="http://schemas.openxmlformats.org/drawingml/2006/main">
            <a:off x="4095750" y="42291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Soporte contractual y estructura de las operaciones.</a:t>
            </a:r>
          </a:p>
        </p:txBody>
      </p:sp>
      <p:sp>
        <p:nvSpPr>
          <p:cNvPr id="8" name="">
            <a:extLst xmlns:a="http://schemas.openxmlformats.org/drawingml/2006/main">
              <a:ext uri="{FF2B5EF4-FFF2-40B4-BE49-F238E27FC236}">
                <a16:creationId xmlns:a16="http://schemas.microsoft.com/office/drawing/2014/main" id="{68E048F6-C899-4408-BC43-11243E617E79}"/>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El servicio se define según la necesidad y el alcance acordado con la empresa.</a:t>
            </a:r>
          </a:p>
        </p:txBody>
      </p:sp>
      <p:sp>
        <p:nvSpPr>
          <p:cNvPr id="9" name="">
            <a:extLst xmlns:a="http://schemas.openxmlformats.org/drawingml/2006/main">
              <a:ext uri="{FF2B5EF4-FFF2-40B4-BE49-F238E27FC236}">
                <a16:creationId xmlns:a16="http://schemas.microsoft.com/office/drawing/2014/main" id="{7E5653E1-EBF6-46EA-B949-3D5A4A31D8F4}"/>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24</a:t>
            </a:r>
          </a:p>
        </p:txBody>
      </p:sp>
    </p:spTree>
    <p:extLst>
      <p:ext uri="{BB962C8B-B14F-4D97-AF65-F5344CB8AC3E}">
        <p14:creationId xmlns:p14="http://schemas.microsoft.com/office/powerpoint/2010/main" val="132556852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8F42AD-FD51-4D40-A0EA-BA782AE249EB}"/>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Preguntas sobre tu decisión</a:t>
            </a:r>
          </a:p>
        </p:txBody>
      </p:sp>
      <p:sp>
        <p:nvSpPr>
          <p:cNvPr id="2" name="">
            <a:extLst xmlns:a="http://schemas.openxmlformats.org/drawingml/2006/main">
              <a:ext uri="{FF2B5EF4-FFF2-40B4-BE49-F238E27FC236}">
                <a16:creationId xmlns:a16="http://schemas.microsoft.com/office/drawing/2014/main" id="{5387C201-B0B4-4828-A9B3-811AE7152C95}"/>
              </a:ext>
            </a:extLst>
          </p:cNvPr>
          <p:cNvSpPr>
            <a:spLocks xmlns:a="http://schemas.openxmlformats.org/drawingml/2006/main" noGrp="1"/>
          </p:cNvSpPr>
          <p:nvPr/>
        </p:nvSpPr>
        <p:spPr>
          <a:xfrm xmlns:a="http://schemas.openxmlformats.org/drawingml/2006/main">
            <a:off x="685800" y="19812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1">
                <a:solidFill>
                  <a:srgbClr val="A51C30"/>
                </a:solidFill>
                <a:latin typeface="Arial"/>
                <a:ea typeface="Arial"/>
                <a:cs typeface="Arial"/>
              </a:defRPr>
            </a:pPr>
            <a:r>
              <a:rPr sz="4275" b="1">
                <a:solidFill>
                  <a:srgbClr val="A51C30"/>
                </a:solidFill>
                <a:latin typeface="Arial"/>
                <a:ea typeface="Arial"/>
                <a:cs typeface="Arial"/>
              </a:rPr>
              <a:t>¿Qué necesitas revisar</a:t>
            </a:r>
          </a:p>
          <a:p xmlns:a="http://schemas.openxmlformats.org/drawingml/2006/main">
            <a:pPr>
              <a:defRPr sz="4275" b="1">
                <a:solidFill>
                  <a:srgbClr val="A51C30"/>
                </a:solidFill>
                <a:latin typeface="Arial"/>
                <a:ea typeface="Arial"/>
                <a:cs typeface="Arial"/>
              </a:defRPr>
            </a:pPr>
            <a:r>
              <a:rPr sz="4275" b="1">
                <a:solidFill>
                  <a:srgbClr val="A51C30"/>
                </a:solidFill>
                <a:latin typeface="Arial"/>
                <a:ea typeface="Arial"/>
                <a:cs typeface="Arial"/>
              </a:rPr>
              <a:t>antes de cerrar tu</a:t>
            </a:r>
          </a:p>
          <a:p xmlns:a="http://schemas.openxmlformats.org/drawingml/2006/main">
            <a:pPr>
              <a:defRPr sz="4275" b="1">
                <a:solidFill>
                  <a:srgbClr val="A51C30"/>
                </a:solidFill>
                <a:latin typeface="Arial"/>
                <a:ea typeface="Arial"/>
                <a:cs typeface="Arial"/>
              </a:defRPr>
            </a:pPr>
            <a:r>
              <a:rPr sz="4275" b="1">
                <a:solidFill>
                  <a:srgbClr val="A51C30"/>
                </a:solidFill>
                <a:latin typeface="Arial"/>
                <a:ea typeface="Arial"/>
                <a:cs typeface="Arial"/>
              </a:rPr>
              <a:t>presupuesto 2027?</a:t>
            </a:r>
          </a:p>
        </p:txBody>
      </p:sp>
      <p:sp>
        <p:nvSpPr>
          <p:cNvPr id="3" name="">
            <a:extLst xmlns:a="http://schemas.openxmlformats.org/drawingml/2006/main">
              <a:ext uri="{FF2B5EF4-FFF2-40B4-BE49-F238E27FC236}">
                <a16:creationId xmlns:a16="http://schemas.microsoft.com/office/drawing/2014/main" id="{0A10A938-2D0C-40FF-BC02-31FC717DAB09}"/>
              </a:ext>
            </a:extLst>
          </p:cNvPr>
          <p:cNvSpPr>
            <a:spLocks xmlns:a="http://schemas.openxmlformats.org/drawingml/2006/main" noGrp="1"/>
          </p:cNvSpPr>
          <p:nvPr/>
        </p:nvSpPr>
        <p:spPr>
          <a:xfrm xmlns:a="http://schemas.openxmlformats.org/drawingml/2006/main">
            <a:off x="723900" y="46863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60646C"/>
                </a:solidFill>
                <a:latin typeface="Arial"/>
                <a:ea typeface="Arial"/>
                <a:cs typeface="Arial"/>
              </a:defRPr>
            </a:pPr>
            <a:r>
              <a:rPr sz="2025" b="0">
                <a:solidFill>
                  <a:srgbClr val="60646C"/>
                </a:solidFill>
                <a:latin typeface="Arial"/>
                <a:ea typeface="Arial"/>
                <a:cs typeface="Arial"/>
              </a:rPr>
              <a:t>Podemos orientar la pregunta. Los casos particulares requieren revisar documentos.</a:t>
            </a:r>
          </a:p>
        </p:txBody>
      </p:sp>
      <p:sp>
        <p:nvSpPr>
          <p:cNvPr id="4" name="">
            <a:extLst xmlns:a="http://schemas.openxmlformats.org/drawingml/2006/main">
              <a:ext uri="{FF2B5EF4-FFF2-40B4-BE49-F238E27FC236}">
                <a16:creationId xmlns:a16="http://schemas.microsoft.com/office/drawing/2014/main" id="{FC9AB841-B50C-4281-9034-2E3EC9223A61}"/>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25</a:t>
            </a:r>
          </a:p>
        </p:txBody>
      </p:sp>
    </p:spTree>
    <p:extLst>
      <p:ext uri="{BB962C8B-B14F-4D97-AF65-F5344CB8AC3E}">
        <p14:creationId xmlns:p14="http://schemas.microsoft.com/office/powerpoint/2010/main" val="182008236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563F83-7324-45D2-BB18-74A3C215C5F1}"/>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Tu siguiente paso con Stratega</a:t>
            </a:r>
          </a:p>
        </p:txBody>
      </p:sp>
      <p:sp>
        <p:nvSpPr>
          <p:cNvPr id="2" name="">
            <a:extLst xmlns:a="http://schemas.openxmlformats.org/drawingml/2006/main">
              <a:ext uri="{FF2B5EF4-FFF2-40B4-BE49-F238E27FC236}">
                <a16:creationId xmlns:a16="http://schemas.microsoft.com/office/drawing/2014/main" id="{ACA04FE7-806B-4FE4-980A-20B00AB1F504}"/>
              </a:ext>
            </a:extLst>
          </p:cNvPr>
          <p:cNvSpPr>
            <a:spLocks xmlns:a="http://schemas.openxmlformats.org/drawingml/2006/main" noGrp="1"/>
          </p:cNvSpPr>
          <p:nvPr/>
        </p:nvSpPr>
        <p:spPr>
          <a:xfrm xmlns:a="http://schemas.openxmlformats.org/drawingml/2006/main">
            <a:off x="685800" y="1828800"/>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00" b="1">
                <a:solidFill>
                  <a:srgbClr val="A51C30"/>
                </a:solidFill>
                <a:latin typeface="Arial"/>
                <a:ea typeface="Arial"/>
                <a:cs typeface="Arial"/>
              </a:defRPr>
            </a:pPr>
            <a:r>
              <a:rPr sz="3900" b="1">
                <a:solidFill>
                  <a:srgbClr val="A51C30"/>
                </a:solidFill>
                <a:latin typeface="Arial"/>
                <a:ea typeface="Arial"/>
                <a:cs typeface="Arial"/>
              </a:rPr>
              <a:t>Solicita una revisión</a:t>
            </a:r>
          </a:p>
          <a:p xmlns:a="http://schemas.openxmlformats.org/drawingml/2006/main">
            <a:pPr>
              <a:defRPr sz="3900" b="1">
                <a:solidFill>
                  <a:srgbClr val="A51C30"/>
                </a:solidFill>
                <a:latin typeface="Arial"/>
                <a:ea typeface="Arial"/>
                <a:cs typeface="Arial"/>
              </a:defRPr>
            </a:pPr>
            <a:r>
              <a:rPr sz="3900" b="1">
                <a:solidFill>
                  <a:srgbClr val="A51C30"/>
                </a:solidFill>
                <a:latin typeface="Arial"/>
                <a:ea typeface="Arial"/>
                <a:cs typeface="Arial"/>
              </a:rPr>
              <a:t>del impacto en tu empresa</a:t>
            </a:r>
          </a:p>
        </p:txBody>
      </p:sp>
      <p:sp>
        <p:nvSpPr>
          <p:cNvPr id="3" name="">
            <a:extLst xmlns:a="http://schemas.openxmlformats.org/drawingml/2006/main">
              <a:ext uri="{FF2B5EF4-FFF2-40B4-BE49-F238E27FC236}">
                <a16:creationId xmlns:a16="http://schemas.microsoft.com/office/drawing/2014/main" id="{39CA66DE-7B70-4289-8A0C-93C435D20A61}"/>
              </a:ext>
            </a:extLst>
          </p:cNvPr>
          <p:cNvSpPr>
            <a:spLocks xmlns:a="http://schemas.openxmlformats.org/drawingml/2006/main" noGrp="1"/>
          </p:cNvSpPr>
          <p:nvPr/>
        </p:nvSpPr>
        <p:spPr>
          <a:xfrm xmlns:a="http://schemas.openxmlformats.org/drawingml/2006/main">
            <a:off x="714375" y="3429000"/>
            <a:ext cx="814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20242B"/>
                </a:solidFill>
                <a:latin typeface="Arial"/>
                <a:ea typeface="Arial"/>
                <a:cs typeface="Arial"/>
              </a:defRPr>
            </a:pPr>
            <a:r>
              <a:rPr sz="2025" b="0">
                <a:solidFill>
                  <a:srgbClr val="20242B"/>
                </a:solidFill>
                <a:latin typeface="Arial"/>
                <a:ea typeface="Arial"/>
                <a:cs typeface="Arial"/>
              </a:rPr>
              <a:t>Escribe “Paquete 2027” e indica el tema que quieres revisar.</a:t>
            </a:r>
          </a:p>
        </p:txBody>
      </p:sp>
      <p:sp>
        <p:nvSpPr>
          <p:cNvPr id="4" name="">
            <a:extLst xmlns:a="http://schemas.openxmlformats.org/drawingml/2006/main">
              <a:ext uri="{FF2B5EF4-FFF2-40B4-BE49-F238E27FC236}">
                <a16:creationId xmlns:a16="http://schemas.microsoft.com/office/drawing/2014/main" id="{CF89EE29-64DE-4B91-A55E-BA8D4DD44CCC}"/>
              </a:ext>
            </a:extLst>
          </p:cNvPr>
          <p:cNvSpPr>
            <a:spLocks xmlns:a="http://schemas.openxmlformats.org/drawingml/2006/main" noGrp="1"/>
          </p:cNvSpPr>
          <p:nvPr/>
        </p:nvSpPr>
        <p:spPr>
          <a:xfrm xmlns:a="http://schemas.openxmlformats.org/drawingml/2006/main">
            <a:off x="714375" y="4524375"/>
            <a:ext cx="876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0242B"/>
                </a:solidFill>
                <a:latin typeface="Arial"/>
                <a:ea typeface="Arial"/>
                <a:cs typeface="Arial"/>
              </a:defRPr>
            </a:pPr>
            <a:r>
              <a:rPr sz="2250" b="1">
                <a:solidFill>
                  <a:srgbClr val="20242B"/>
                </a:solidFill>
                <a:latin typeface="Arial"/>
                <a:ea typeface="Arial"/>
                <a:cs typeface="Arial"/>
              </a:rPr>
              <a:t>contacto@strategaconsultores.com</a:t>
            </a:r>
          </a:p>
          <a:p xmlns:a="http://schemas.openxmlformats.org/drawingml/2006/main">
            <a:pPr>
              <a:defRPr sz="2250" b="1">
                <a:solidFill>
                  <a:srgbClr val="20242B"/>
                </a:solidFill>
                <a:latin typeface="Arial"/>
                <a:ea typeface="Arial"/>
                <a:cs typeface="Arial"/>
              </a:defRPr>
            </a:pPr>
            <a:r>
              <a:rPr sz="2250" b="1">
                <a:solidFill>
                  <a:srgbClr val="20242B"/>
                </a:solidFill>
                <a:latin typeface="Arial"/>
                <a:ea typeface="Arial"/>
                <a:cs typeface="Arial"/>
              </a:rPr>
              <a:t>+52 444 100 1800</a:t>
            </a:r>
          </a:p>
        </p:txBody>
      </p:sp>
      <p:sp>
        <p:nvSpPr>
          <p:cNvPr id="5" name="">
            <a:extLst xmlns:a="http://schemas.openxmlformats.org/drawingml/2006/main">
              <a:ext uri="{FF2B5EF4-FFF2-40B4-BE49-F238E27FC236}">
                <a16:creationId xmlns:a16="http://schemas.microsoft.com/office/drawing/2014/main" id="{24B3FD85-329C-471E-A1DE-B689400F1F7F}"/>
              </a:ext>
            </a:extLst>
          </p:cNvPr>
          <p:cNvSpPr>
            <a:spLocks xmlns:a="http://schemas.openxmlformats.org/drawingml/2006/main" noGrp="1"/>
          </p:cNvSpPr>
          <p:nvPr/>
        </p:nvSpPr>
        <p:spPr>
          <a:xfrm xmlns:a="http://schemas.openxmlformats.org/drawingml/2006/main">
            <a:off x="714375" y="5715000"/>
            <a:ext cx="971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0646C"/>
                </a:solidFill>
                <a:latin typeface="Arial"/>
                <a:ea typeface="Arial"/>
                <a:cs typeface="Arial"/>
              </a:defRPr>
            </a:pPr>
            <a:r>
              <a:rPr sz="1725" b="0">
                <a:solidFill>
                  <a:srgbClr val="60646C"/>
                </a:solidFill>
                <a:latin typeface="Arial"/>
                <a:ea typeface="Arial"/>
                <a:cs typeface="Arial"/>
              </a:rPr>
              <a:t>www.strategaconsultores.com/contactanos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f56311f71b947d7"/>
          <a:stretch xmlns:a="http://schemas.openxmlformats.org/drawingml/2006/main"/>
        </p:blipFill>
        <p:spPr>
          <a:xfrm xmlns:a="http://schemas.openxmlformats.org/drawingml/2006/main">
            <a:off x="9496425" y="3619500"/>
            <a:ext cx="1952625" cy="1952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8905AE-E3CA-43C5-9804-BD41252ED3CE}"/>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26</a:t>
            </a:r>
          </a:p>
        </p:txBody>
      </p:sp>
    </p:spTree>
    <p:extLst>
      <p:ext uri="{BB962C8B-B14F-4D97-AF65-F5344CB8AC3E}">
        <p14:creationId xmlns:p14="http://schemas.microsoft.com/office/powerpoint/2010/main" val="114342241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879B43-AB45-4512-A583-E3149C1DF6AC}"/>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Fuentes y alcance</a:t>
            </a:r>
          </a:p>
        </p:txBody>
      </p:sp>
      <p:sp>
        <p:nvSpPr>
          <p:cNvPr id="2" name="">
            <a:extLst xmlns:a="http://schemas.openxmlformats.org/drawingml/2006/main">
              <a:ext uri="{FF2B5EF4-FFF2-40B4-BE49-F238E27FC236}">
                <a16:creationId xmlns:a16="http://schemas.microsoft.com/office/drawing/2014/main" id="{22EF5EA7-D6F9-4FD9-BCE4-59A0A377C8B6}"/>
              </a:ext>
            </a:extLst>
          </p:cNvPr>
          <p:cNvSpPr>
            <a:spLocks xmlns:a="http://schemas.openxmlformats.org/drawingml/2006/main" noGrp="1"/>
          </p:cNvSpPr>
          <p:nvPr/>
        </p:nvSpPr>
        <p:spPr>
          <a:xfrm xmlns:a="http://schemas.openxmlformats.org/drawingml/2006/main">
            <a:off x="685800" y="18288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Base 2027</a:t>
            </a:r>
          </a:p>
        </p:txBody>
      </p:sp>
      <p:sp>
        <p:nvSpPr>
          <p:cNvPr id="3" name="">
            <a:extLst xmlns:a="http://schemas.openxmlformats.org/drawingml/2006/main">
              <a:ext uri="{FF2B5EF4-FFF2-40B4-BE49-F238E27FC236}">
                <a16:creationId xmlns:a16="http://schemas.microsoft.com/office/drawing/2014/main" id="{BA752A77-730C-454B-91FF-33F3DC53A5C7}"/>
              </a:ext>
            </a:extLst>
          </p:cNvPr>
          <p:cNvSpPr>
            <a:spLocks xmlns:a="http://schemas.openxmlformats.org/drawingml/2006/main" noGrp="1"/>
          </p:cNvSpPr>
          <p:nvPr/>
        </p:nvSpPr>
        <p:spPr>
          <a:xfrm xmlns:a="http://schemas.openxmlformats.org/drawingml/2006/main">
            <a:off x="4095750" y="18288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CGPE_2027.pdf aportado: pp. 27-31 y 66.</a:t>
            </a:r>
          </a:p>
        </p:txBody>
      </p:sp>
      <p:sp>
        <p:nvSpPr>
          <p:cNvPr id="4" name="">
            <a:extLst xmlns:a="http://schemas.openxmlformats.org/drawingml/2006/main">
              <a:ext uri="{FF2B5EF4-FFF2-40B4-BE49-F238E27FC236}">
                <a16:creationId xmlns:a16="http://schemas.microsoft.com/office/drawing/2014/main" id="{87036E30-3497-4C6B-8831-FBE17B7CCF0B}"/>
              </a:ext>
            </a:extLst>
          </p:cNvPr>
          <p:cNvSpPr>
            <a:spLocks xmlns:a="http://schemas.openxmlformats.org/drawingml/2006/main" noGrp="1"/>
          </p:cNvSpPr>
          <p:nvPr/>
        </p:nvSpPr>
        <p:spPr>
          <a:xfrm xmlns:a="http://schemas.openxmlformats.org/drawingml/2006/main">
            <a:off x="685800" y="30289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Referencia legal</a:t>
            </a:r>
          </a:p>
        </p:txBody>
      </p:sp>
      <p:sp>
        <p:nvSpPr>
          <p:cNvPr id="5" name="">
            <a:extLst xmlns:a="http://schemas.openxmlformats.org/drawingml/2006/main">
              <a:ext uri="{FF2B5EF4-FFF2-40B4-BE49-F238E27FC236}">
                <a16:creationId xmlns:a16="http://schemas.microsoft.com/office/drawing/2014/main" id="{6862DFCF-AC02-4CB1-83CC-AC8721C733C7}"/>
              </a:ext>
            </a:extLst>
          </p:cNvPr>
          <p:cNvSpPr>
            <a:spLocks xmlns:a="http://schemas.openxmlformats.org/drawingml/2006/main" noGrp="1"/>
          </p:cNvSpPr>
          <p:nvPr/>
        </p:nvSpPr>
        <p:spPr>
          <a:xfrm xmlns:a="http://schemas.openxmlformats.org/drawingml/2006/main">
            <a:off x="4095750" y="302895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LISR, arts. 9 y 57. LIVA, arts. 1 y 5. LFPRH, art. 42.</a:t>
            </a:r>
          </a:p>
        </p:txBody>
      </p:sp>
      <p:sp>
        <p:nvSpPr>
          <p:cNvPr id="6" name="">
            <a:extLst xmlns:a="http://schemas.openxmlformats.org/drawingml/2006/main">
              <a:ext uri="{FF2B5EF4-FFF2-40B4-BE49-F238E27FC236}">
                <a16:creationId xmlns:a16="http://schemas.microsoft.com/office/drawing/2014/main" id="{5DC90A22-C539-4D3F-BAD0-BA47E27B9FBC}"/>
              </a:ext>
            </a:extLst>
          </p:cNvPr>
          <p:cNvSpPr>
            <a:spLocks xmlns:a="http://schemas.openxmlformats.org/drawingml/2006/main" noGrp="1"/>
          </p:cNvSpPr>
          <p:nvPr/>
        </p:nvSpPr>
        <p:spPr>
          <a:xfrm xmlns:a="http://schemas.openxmlformats.org/drawingml/2006/main">
            <a:off x="685800" y="42291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51C30"/>
                </a:solidFill>
                <a:latin typeface="Arial"/>
                <a:ea typeface="Arial"/>
                <a:cs typeface="Arial"/>
              </a:defRPr>
            </a:pPr>
            <a:r>
              <a:rPr sz="2100" b="1">
                <a:solidFill>
                  <a:srgbClr val="A51C30"/>
                </a:solidFill>
                <a:latin typeface="Arial"/>
                <a:ea typeface="Arial"/>
                <a:cs typeface="Arial"/>
              </a:rPr>
              <a:t>Marca y contacto</a:t>
            </a:r>
          </a:p>
        </p:txBody>
      </p:sp>
      <p:sp>
        <p:nvSpPr>
          <p:cNvPr id="7" name="">
            <a:extLst xmlns:a="http://schemas.openxmlformats.org/drawingml/2006/main">
              <a:ext uri="{FF2B5EF4-FFF2-40B4-BE49-F238E27FC236}">
                <a16:creationId xmlns:a16="http://schemas.microsoft.com/office/drawing/2014/main" id="{023E6B13-1009-4E03-9559-B203D80E7482}"/>
              </a:ext>
            </a:extLst>
          </p:cNvPr>
          <p:cNvSpPr>
            <a:spLocks xmlns:a="http://schemas.openxmlformats.org/drawingml/2006/main" noGrp="1"/>
          </p:cNvSpPr>
          <p:nvPr/>
        </p:nvSpPr>
        <p:spPr>
          <a:xfrm xmlns:a="http://schemas.openxmlformats.org/drawingml/2006/main">
            <a:off x="4095750" y="4229100"/>
            <a:ext cx="7239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242B"/>
                </a:solidFill>
                <a:latin typeface="Arial"/>
                <a:ea typeface="Arial"/>
                <a:cs typeface="Arial"/>
              </a:defRPr>
            </a:pPr>
            <a:r>
              <a:rPr sz="2100" b="0">
                <a:solidFill>
                  <a:srgbClr val="20242B"/>
                </a:solidFill>
                <a:latin typeface="Arial"/>
                <a:ea typeface="Arial"/>
                <a:cs typeface="Arial"/>
              </a:rPr>
              <a:t>strategaconsultores.com y su página de contacto.</a:t>
            </a:r>
          </a:p>
        </p:txBody>
      </p:sp>
      <p:sp>
        <p:nvSpPr>
          <p:cNvPr id="8" name="">
            <a:extLst xmlns:a="http://schemas.openxmlformats.org/drawingml/2006/main">
              <a:ext uri="{FF2B5EF4-FFF2-40B4-BE49-F238E27FC236}">
                <a16:creationId xmlns:a16="http://schemas.microsoft.com/office/drawing/2014/main" id="{C32979D7-98CA-42C1-A7EA-3A1B21B1DD16}"/>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Corte editorial: 28/09/2026. Propuestas sujetas al texto aprobado y a su vigencia.</a:t>
            </a:r>
          </a:p>
        </p:txBody>
      </p:sp>
      <p:sp>
        <p:nvSpPr>
          <p:cNvPr id="9" name="">
            <a:extLst xmlns:a="http://schemas.openxmlformats.org/drawingml/2006/main">
              <a:ext uri="{FF2B5EF4-FFF2-40B4-BE49-F238E27FC236}">
                <a16:creationId xmlns:a16="http://schemas.microsoft.com/office/drawing/2014/main" id="{724E97C7-677F-424E-B303-DA48C0D443CF}"/>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27</a:t>
            </a:r>
          </a:p>
        </p:txBody>
      </p:sp>
    </p:spTree>
    <p:extLst>
      <p:ext uri="{BB962C8B-B14F-4D97-AF65-F5344CB8AC3E}">
        <p14:creationId xmlns:p14="http://schemas.microsoft.com/office/powerpoint/2010/main" val="95772829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462A9D-E032-414A-B554-F7D8A9BABF34}"/>
              </a:ext>
            </a:extLst>
          </p:cNvPr>
          <p:cNvSpPr>
            <a:spLocks xmlns:a="http://schemas.openxmlformats.org/drawingml/2006/main" noGrp="1"/>
          </p:cNvSpPr>
          <p:nvPr/>
        </p:nvSpPr>
        <p:spPr>
          <a:xfrm xmlns:a="http://schemas.openxmlformats.org/drawingml/2006/main">
            <a:off x="685800" y="6096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20242B"/>
                </a:solidFill>
                <a:latin typeface="Arial"/>
                <a:ea typeface="Arial"/>
                <a:cs typeface="Arial"/>
              </a:defRPr>
            </a:pPr>
            <a:r>
              <a:rPr sz="3225" b="1">
                <a:solidFill>
                  <a:srgbClr val="20242B"/>
                </a:solidFill>
                <a:latin typeface="Arial"/>
                <a:ea typeface="Arial"/>
                <a:cs typeface="Arial"/>
              </a:rPr>
              <a:t>Glosario para consulta</a:t>
            </a:r>
          </a:p>
        </p:txBody>
      </p:sp>
      <p:graphicFrame>
        <p:nvGraphicFramePr>
          <p:cNvPr id="6" name=""/>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3905250"/>
                <a:gridCol w="6915150"/>
              </a:tblGrid>
              <a:tr h="539750">
                <a:tc>
                  <a:txBody>
                    <a:bodyPr/>
                    <a:lstStyle/>
                    <a:p>
                      <a:r>
                        <a:rPr sz="1875" b="1">
                          <a:solidFill>
                            <a:srgbClr val="FFFFFF"/>
                          </a:solidFill>
                          <a:latin typeface="Arial"/>
                          <a:ea typeface="Arial"/>
                          <a:cs typeface="Arial"/>
                        </a:rPr>
                        <a:t>Término</a:t>
                      </a:r>
                    </a:p>
                  </a:txBody>
                  <a:tcPr marL="152400" marR="133350" marT="76200" marB="76200" anchor="ctr">
                    <a:solidFill>
                      <a:srgbClr val="30343B"/>
                    </a:solidFill>
                  </a:tcPr>
                </a:tc>
                <a:tc>
                  <a:txBody>
                    <a:bodyPr/>
                    <a:lstStyle/>
                    <a:p>
                      <a:r>
                        <a:rPr sz="1875" b="1">
                          <a:solidFill>
                            <a:srgbClr val="FFFFFF"/>
                          </a:solidFill>
                          <a:latin typeface="Arial"/>
                          <a:ea typeface="Arial"/>
                          <a:cs typeface="Arial"/>
                        </a:rPr>
                        <a:t>Significado en esta sesión</a:t>
                      </a:r>
                    </a:p>
                  </a:txBody>
                  <a:tcPr marL="152400" marR="133350" marT="76200" marB="76200" anchor="ctr">
                    <a:solidFill>
                      <a:srgbClr val="30343B"/>
                    </a:solidFill>
                  </a:tcPr>
                </a:tc>
              </a:tr>
              <a:tr h="539750">
                <a:tc>
                  <a:txBody>
                    <a:bodyPr/>
                    <a:lstStyle/>
                    <a:p>
                      <a:r>
                        <a:rPr sz="1950" b="0">
                          <a:solidFill>
                            <a:srgbClr val="20242B"/>
                          </a:solidFill>
                          <a:latin typeface="Arial"/>
                          <a:ea typeface="Arial"/>
                          <a:cs typeface="Arial"/>
                        </a:rPr>
                        <a:t>Base gravable</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Cantidad sobre la que se calcula el impuesto.</a:t>
                      </a:r>
                    </a:p>
                  </a:txBody>
                  <a:tcPr marL="152400" marR="133350" marT="76200" marB="76200" anchor="ctr">
                    <a:solidFill>
                      <a:srgbClr val="F6F6F6"/>
                    </a:solidFill>
                  </a:tcPr>
                </a:tc>
              </a:tr>
              <a:tr h="539750">
                <a:tc>
                  <a:txBody>
                    <a:bodyPr/>
                    <a:lstStyle/>
                    <a:p>
                      <a:r>
                        <a:rPr sz="1950" b="0">
                          <a:solidFill>
                            <a:srgbClr val="20242B"/>
                          </a:solidFill>
                          <a:latin typeface="Arial"/>
                          <a:ea typeface="Arial"/>
                          <a:cs typeface="Arial"/>
                        </a:rPr>
                        <a:t>Deducción</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Concepto que puede reducir la base si cumple requisitos.</a:t>
                      </a:r>
                    </a:p>
                  </a:txBody>
                  <a:tcPr marL="152400" marR="133350" marT="76200" marB="76200" anchor="ctr">
                    <a:solidFill>
                      <a:srgbClr val="FFFFFF"/>
                    </a:solidFill>
                  </a:tcPr>
                </a:tc>
              </a:tr>
              <a:tr h="539750">
                <a:tc>
                  <a:txBody>
                    <a:bodyPr/>
                    <a:lstStyle/>
                    <a:p>
                      <a:r>
                        <a:rPr sz="1950" b="0">
                          <a:solidFill>
                            <a:srgbClr val="20242B"/>
                          </a:solidFill>
                          <a:latin typeface="Arial"/>
                          <a:ea typeface="Arial"/>
                          <a:cs typeface="Arial"/>
                        </a:rPr>
                        <a:t>Pérdida fiscal</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Resultado fiscal negativo, distinto del contable.</a:t>
                      </a:r>
                    </a:p>
                  </a:txBody>
                  <a:tcPr marL="152400" marR="133350" marT="76200" marB="76200" anchor="ctr">
                    <a:solidFill>
                      <a:srgbClr val="F6F6F6"/>
                    </a:solidFill>
                  </a:tcPr>
                </a:tc>
              </a:tr>
              <a:tr h="539750">
                <a:tc>
                  <a:txBody>
                    <a:bodyPr/>
                    <a:lstStyle/>
                    <a:p>
                      <a:r>
                        <a:rPr sz="1950" b="0">
                          <a:solidFill>
                            <a:srgbClr val="20242B"/>
                          </a:solidFill>
                          <a:latin typeface="Arial"/>
                          <a:ea typeface="Arial"/>
                          <a:cs typeface="Arial"/>
                        </a:rPr>
                        <a:t>Acreditamiento</a:t>
                      </a:r>
                    </a:p>
                  </a:txBody>
                  <a:tcPr marL="152400" marR="133350" marT="76200" marB="76200" anchor="ctr">
                    <a:solidFill>
                      <a:srgbClr val="FFFFFF"/>
                    </a:solidFill>
                  </a:tcPr>
                </a:tc>
                <a:tc>
                  <a:txBody>
                    <a:bodyPr/>
                    <a:lstStyle/>
                    <a:p>
                      <a:r>
                        <a:rPr sz="1950" b="0">
                          <a:solidFill>
                            <a:srgbClr val="20242B"/>
                          </a:solidFill>
                          <a:latin typeface="Arial"/>
                          <a:ea typeface="Arial"/>
                          <a:cs typeface="Arial"/>
                        </a:rPr>
                        <a:t>Resta permitida contra un impuesto a cargo.</a:t>
                      </a:r>
                    </a:p>
                  </a:txBody>
                  <a:tcPr marL="152400" marR="133350" marT="76200" marB="76200" anchor="ctr">
                    <a:solidFill>
                      <a:srgbClr val="FFFFFF"/>
                    </a:solidFill>
                  </a:tcPr>
                </a:tc>
              </a:tr>
              <a:tr h="539750">
                <a:tc>
                  <a:txBody>
                    <a:bodyPr/>
                    <a:lstStyle/>
                    <a:p>
                      <a:r>
                        <a:rPr sz="1950" b="0">
                          <a:solidFill>
                            <a:srgbClr val="20242B"/>
                          </a:solidFill>
                          <a:latin typeface="Arial"/>
                          <a:ea typeface="Arial"/>
                          <a:cs typeface="Arial"/>
                        </a:rPr>
                        <a:t>Transitorio</a:t>
                      </a:r>
                    </a:p>
                  </a:txBody>
                  <a:tcPr marL="152400" marR="133350" marT="76200" marB="76200" anchor="ctr">
                    <a:solidFill>
                      <a:srgbClr val="F6F6F6"/>
                    </a:solidFill>
                  </a:tcPr>
                </a:tc>
                <a:tc>
                  <a:txBody>
                    <a:bodyPr/>
                    <a:lstStyle/>
                    <a:p>
                      <a:r>
                        <a:rPr sz="1950" b="0">
                          <a:solidFill>
                            <a:srgbClr val="20242B"/>
                          </a:solidFill>
                          <a:latin typeface="Arial"/>
                          <a:ea typeface="Arial"/>
                          <a:cs typeface="Arial"/>
                        </a:rPr>
                        <a:t>Regla del decreto sobre transición o vigencia.</a:t>
                      </a:r>
                    </a:p>
                  </a:txBody>
                  <a:tcPr marL="152400" marR="133350" marT="76200" marB="76200" anchor="ctr">
                    <a:solidFill>
                      <a:srgbClr val="F6F6F6"/>
                    </a:solidFill>
                  </a:tcPr>
                </a:tc>
              </a:tr>
            </a:tbl>
          </a:graphicData>
        </a:graphic>
      </p:graphicFrame>
      <p:sp>
        <p:nvSpPr>
          <p:cNvPr id="3" name="">
            <a:extLst xmlns:a="http://schemas.openxmlformats.org/drawingml/2006/main">
              <a:ext uri="{FF2B5EF4-FFF2-40B4-BE49-F238E27FC236}">
                <a16:creationId xmlns:a16="http://schemas.microsoft.com/office/drawing/2014/main" id="{E985D385-CD55-463B-B2C2-5A3514CAB97B}"/>
              </a:ext>
            </a:extLst>
          </p:cNvPr>
          <p:cNvSpPr>
            <a:spLocks xmlns:a="http://schemas.openxmlformats.org/drawingml/2006/main" noGrp="1"/>
          </p:cNvSpPr>
          <p:nvPr/>
        </p:nvSpPr>
        <p:spPr>
          <a:xfrm xmlns:a="http://schemas.openxmlformats.org/drawingml/2006/main">
            <a:off x="685800" y="5657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0646C"/>
                </a:solidFill>
                <a:latin typeface="Arial"/>
                <a:ea typeface="Arial"/>
                <a:cs typeface="Arial"/>
              </a:defRPr>
            </a:pPr>
            <a:r>
              <a:rPr sz="1575" b="0">
                <a:solidFill>
                  <a:srgbClr val="60646C"/>
                </a:solidFill>
                <a:latin typeface="Arial"/>
                <a:ea typeface="Arial"/>
                <a:cs typeface="Arial"/>
              </a:rPr>
              <a:t>Anexo de consulta. Las definiciones simplifican conceptos con requisitos específicos.</a:t>
            </a:r>
          </a:p>
        </p:txBody>
      </p:sp>
      <p:sp>
        <p:nvSpPr>
          <p:cNvPr id="4" name="">
            <a:extLst xmlns:a="http://schemas.openxmlformats.org/drawingml/2006/main">
              <a:ext uri="{FF2B5EF4-FFF2-40B4-BE49-F238E27FC236}">
                <a16:creationId xmlns:a16="http://schemas.microsoft.com/office/drawing/2014/main" id="{DD0A8E50-6761-40D5-84EC-B8C25AE7A267}"/>
              </a:ext>
            </a:extLst>
          </p:cNvPr>
          <p:cNvSpPr>
            <a:spLocks xmlns:a="http://schemas.openxmlformats.org/drawingml/2006/main" noGrp="1"/>
          </p:cNvSpPr>
          <p:nvPr/>
        </p:nvSpPr>
        <p:spPr>
          <a:xfrm xmlns:a="http://schemas.openxmlformats.org/drawingml/2006/main">
            <a:off x="685800" y="644842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646C"/>
                </a:solidFill>
                <a:latin typeface="Arial"/>
                <a:ea typeface="Arial"/>
                <a:cs typeface="Arial"/>
              </a:defRPr>
            </a:pPr>
            <a:r>
              <a:rPr sz="1200" b="0">
                <a:solidFill>
                  <a:srgbClr val="60646C"/>
                </a:solidFill>
                <a:latin typeface="Arial"/>
                <a:ea typeface="Arial"/>
                <a:cs typeface="Arial"/>
              </a:rPr>
              <a:t>Stratega Consultores  ·  28</a:t>
            </a:r>
          </a:p>
        </p:txBody>
      </p:sp>
    </p:spTree>
    <p:extLst>
      <p:ext uri="{BB962C8B-B14F-4D97-AF65-F5344CB8AC3E}">
        <p14:creationId xmlns:p14="http://schemas.microsoft.com/office/powerpoint/2010/main" val="4060085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2026-09-28T22:34:24.0450000Z</dcterms:created>
  <dcterms:modified xsi:type="dcterms:W3CDTF">2026-09-28T22:34:24.0450000Z</dcterms:modified>
</coreProperties>
</file>